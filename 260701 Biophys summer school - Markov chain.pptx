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3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5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6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7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8.xml" ContentType="application/vnd.openxmlformats-officedocument.presentationml.notesSlide+xml"/>
  <Override PartName="/ppt/tags/tag72.xml" ContentType="application/vnd.openxmlformats-officedocument.presentationml.tags+xml"/>
  <Override PartName="/ppt/notesSlides/notesSlide19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433" r:id="rId6"/>
    <p:sldId id="457" r:id="rId7"/>
    <p:sldId id="438" r:id="rId8"/>
    <p:sldId id="454" r:id="rId9"/>
    <p:sldId id="453" r:id="rId10"/>
    <p:sldId id="455" r:id="rId11"/>
    <p:sldId id="456" r:id="rId12"/>
    <p:sldId id="440" r:id="rId13"/>
    <p:sldId id="441" r:id="rId14"/>
    <p:sldId id="445" r:id="rId15"/>
    <p:sldId id="442" r:id="rId16"/>
    <p:sldId id="444" r:id="rId17"/>
    <p:sldId id="447" r:id="rId18"/>
    <p:sldId id="448" r:id="rId19"/>
    <p:sldId id="437" r:id="rId20"/>
    <p:sldId id="446" r:id="rId21"/>
    <p:sldId id="451" r:id="rId22"/>
    <p:sldId id="443" r:id="rId23"/>
    <p:sldId id="452" r:id="rId24"/>
    <p:sldId id="269" r:id="rId25"/>
    <p:sldId id="430" r:id="rId26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Minion" panose="020B0600000101010101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1C06A60-1604-403D-999E-4742B30B4268}">
          <p14:sldIdLst>
            <p14:sldId id="256"/>
            <p14:sldId id="433"/>
            <p14:sldId id="457"/>
          </p14:sldIdLst>
        </p14:section>
        <p14:section name="DTMC" id="{14A13DB3-B924-46F9-8824-76F98E67E9CA}">
          <p14:sldIdLst>
            <p14:sldId id="438"/>
            <p14:sldId id="454"/>
            <p14:sldId id="453"/>
            <p14:sldId id="455"/>
            <p14:sldId id="456"/>
          </p14:sldIdLst>
        </p14:section>
        <p14:section name="CTMC" id="{E833E958-59AD-4F30-8CC9-7549665991CA}">
          <p14:sldIdLst>
            <p14:sldId id="440"/>
            <p14:sldId id="441"/>
            <p14:sldId id="445"/>
            <p14:sldId id="442"/>
            <p14:sldId id="444"/>
            <p14:sldId id="447"/>
            <p14:sldId id="448"/>
            <p14:sldId id="437"/>
            <p14:sldId id="446"/>
            <p14:sldId id="451"/>
            <p14:sldId id="443"/>
            <p14:sldId id="452"/>
            <p14:sldId id="269"/>
            <p14:sldId id="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동호(물리학과)" initials="이D" lastIdx="3" clrIdx="0">
    <p:extLst>
      <p:ext uri="{19B8F6BF-5375-455C-9EA6-DF929625EA0E}">
        <p15:presenceInfo xmlns:p15="http://schemas.microsoft.com/office/powerpoint/2012/main" userId="S::ho1124@postech.ac.kr::113693be-06df-4f02-a238-72f23b699d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FFFFFF"/>
    <a:srgbClr val="FBFDFD"/>
    <a:srgbClr val="F9BE81"/>
    <a:srgbClr val="F7FAFF"/>
    <a:srgbClr val="EEF4FB"/>
    <a:srgbClr val="C16D5A"/>
    <a:srgbClr val="D3F0F1"/>
    <a:srgbClr val="C299C3"/>
    <a:srgbClr val="B28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90" autoAdjust="0"/>
    <p:restoredTop sz="77842" autoAdjust="0"/>
  </p:normalViewPr>
  <p:slideViewPr>
    <p:cSldViewPr>
      <p:cViewPr varScale="1">
        <p:scale>
          <a:sx n="97" d="100"/>
          <a:sy n="97" d="100"/>
        </p:scale>
        <p:origin x="78" y="18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42" d="100"/>
          <a:sy n="142" d="100"/>
        </p:scale>
        <p:origin x="132" y="10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68446-54CF-4267-A5BD-FA01909E96A2}" type="datetimeFigureOut">
              <a:rPr lang="nl-NL" smtClean="0"/>
              <a:t>30-6-2026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345F5-224F-42F7-8104-3FF77BEE4C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0830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98784-F1F2-4D71-B346-94F94D5EBAA2}" type="datetimeFigureOut">
              <a:rPr lang="nl-NL" smtClean="0"/>
              <a:t>30-6-2026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ECD43-08E5-4945-BC4F-4857758E978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3515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Today, I will talk about a possible proposal direction on target search dynamics in phase-separated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The main focus is not how LLPS itself occurs, or how condensates are formed.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Instead, I want to ask what happens after a condensate, or more generally a phase-separated compartment, already exists.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In particular, I am interested in how transport heterogeneity inside and outside the condensate affects single-molecule target search.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453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3BEB-235A-F0E4-E4A9-2B5CE6B9B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C188F0-C2C4-AA56-6734-608E7FA9C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393D1B-23E9-06FB-5023-B0B08DAB1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591C2-819B-089B-019B-E4B3F61F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232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9DA26-9A56-BEB4-7F0E-CC2D7278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81D353-854D-F8F4-72DD-560B60683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5C97D0-6F04-67D7-B3A9-9F2DB271C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4EDC63-2D69-3A9D-DD14-B25E832BF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4147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E04A-3C6E-B767-A665-7CF065B0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288812-670A-4A0D-74DE-674CA7D9B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53CFFD-39E7-F72C-F90F-445EC4F06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Transition </a:t>
            </a:r>
            <a:r>
              <a:rPr lang="ko-KR" altLang="en-US" dirty="0"/>
              <a:t>정의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895D6-6C77-028B-872D-A20D05AA1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158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AF77-01A5-F7CE-9D47-EA146C8E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0042EB-8593-9176-C161-FA660DF4E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A39907-2F28-24A7-C04B-DB5178D8D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39000-D9B7-2FEA-B67C-F7810030C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8375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D5E6-262D-6F3A-14C6-B47A6B07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F6CF0E-46AE-5D3D-5BA8-D4A13AC20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39FFED-3B13-1627-C9F2-A3DC514EA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86CED-3E3B-F78D-F251-D33E7D3D4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5326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C864A-1A31-832A-D829-9B48216E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95FF29-711D-6B35-00A0-1497EC68A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BB76F5-BCBB-A586-8E61-9B8A4477B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7C3EB9-20D5-D020-3FAB-6648EB48B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6286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C665-13E7-79A8-FBF8-08645CC0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007C16-3F18-7727-5FC5-F6B7F5FCE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E66D6C-8EE9-A9A6-7510-22CFDC712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CCFFBB-8BA0-38CB-41C6-FC822CA1D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150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9521-6C8F-9EFF-FEB2-02AA2E5F7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331DAC-2321-450B-C735-7F6EA4F90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02D955-C6BC-A6E1-8906-BC51CD98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DTMC</a:t>
            </a:r>
            <a:r>
              <a:rPr lang="ko-KR" altLang="en-US" dirty="0"/>
              <a:t>는 일정한 시간 간격으로 </a:t>
            </a:r>
            <a:r>
              <a:rPr lang="en-US" altLang="ko-KR" dirty="0"/>
              <a:t>transition</a:t>
            </a:r>
            <a:r>
              <a:rPr lang="ko-KR" altLang="en-US" dirty="0"/>
              <a:t>이 일어나거나</a:t>
            </a:r>
            <a:r>
              <a:rPr lang="en-US" altLang="ko-KR" dirty="0"/>
              <a:t>, </a:t>
            </a:r>
            <a:r>
              <a:rPr lang="ko-KR" altLang="en-US" dirty="0"/>
              <a:t>관찰할 수 있는 시간이 그 간격밖에 없음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반면에 </a:t>
            </a:r>
            <a:r>
              <a:rPr lang="en-US" altLang="ko-KR" dirty="0"/>
              <a:t>CTMC</a:t>
            </a:r>
            <a:r>
              <a:rPr lang="ko-KR" altLang="en-US" dirty="0"/>
              <a:t>는 </a:t>
            </a:r>
            <a:r>
              <a:rPr lang="en-US" altLang="ko-KR" dirty="0"/>
              <a:t>transition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일어날 수 있는 시간이 </a:t>
            </a:r>
            <a:r>
              <a:rPr lang="en-US" altLang="ko-KR" dirty="0"/>
              <a:t>‘</a:t>
            </a:r>
            <a:r>
              <a:rPr lang="ko-KR" altLang="en-US" dirty="0"/>
              <a:t>연속적인</a:t>
            </a:r>
            <a:r>
              <a:rPr lang="en-US" altLang="ko-KR" dirty="0"/>
              <a:t>’ </a:t>
            </a:r>
            <a:r>
              <a:rPr lang="ko-KR" altLang="en-US" dirty="0"/>
              <a:t>임의의 값일 수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예시 그림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5FA77-0E35-D6B9-5E90-9FD8A5DAD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7948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DE9B-6332-D340-022E-941FCEB7A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BF4407-E0B6-C7AD-6ACF-C15E796FC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8D26FF-9834-C69E-DCE9-E45E34C19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2FC0AA-529C-F0F9-599D-B5503DB06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4410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20C2-91FD-A213-8E78-7616ADBA9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F77F6-FC6E-45DE-06B7-0269AC578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E26534-AB7A-A03C-A94E-04A839C70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110570-7DA7-7E2B-5439-8D66E2273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1240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CD58-A1C9-1D6A-5C1A-B7F565F7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946997-9440-F250-683B-E8C60A883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74D6AF-4172-AF47-111E-31B4F20A8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dirty="0"/>
              <a:t>항상 남들보다 잘하기 보다는 어제의 나보다 더 나은 사람이 되자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29ADC-4E9B-9E09-8E22-DEFF8787E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369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2770C-A4B9-1D2A-88C9-BAD62427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FB14B4-EF98-9F62-279C-CD2DFF019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A3ABF8-F3D5-AC3A-94F4-2293776C0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159B19-6075-0D24-1A7D-02CEF084A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4615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D6BC-216F-73A0-1482-92F0393B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7362C3-6EA5-A0B6-50CF-B5560C562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7F8836-9059-2E61-A493-FDDBED160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C377A-0D3C-4AFD-6DE4-14E555E9E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838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0F26-776A-4185-086F-5485E4895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4B8DEA-6D1B-8A92-8AC3-1F830A5B7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088F93-4B75-885D-DB1F-5B1F99CF7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96C779-71FC-E89B-8219-8B1C04A4E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0036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9B99-8A2D-D713-CF9D-186ED627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AEF43E-F02D-DBE9-9A76-496114A70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B9264C-9448-4F7D-CC00-CFFEBE8BE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95C15F-4E07-FAB6-6ECE-D6B245C87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5541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CA5D-5619-2D2F-03F8-EA122788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396579-22BB-552E-8680-64C996CE4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D91A7-A67F-92F7-BE9D-2DE7A6F86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Exponential waiting time </a:t>
            </a:r>
          </a:p>
          <a:p>
            <a:pPr marL="171450" indent="-171450">
              <a:buFontTx/>
              <a:buChar char="-"/>
            </a:pPr>
            <a:r>
              <a:rPr lang="en-US" altLang="ko-KR" dirty="0" err="1"/>
              <a:t>Definie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15ED6-EF4D-5D8F-0D06-B76B990BB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29101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55C8-E63C-A7D6-37B1-1A41BFD1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B87FC3-D43D-D8CA-EF98-2894687FC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7CD64C-F878-4F74-7D20-E6BAC343E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200FBB-F150-8F88-F52C-828559810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3804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26956-BDC5-A0DB-E9C5-3B97A17E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72609-4E25-BAC2-A467-5D9778C9B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303E90-AA9B-8ACA-D491-EB9AF4CAB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3A61C2-948E-6C0D-2310-7D8EDF5A0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4521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D44F-59B1-A350-1A26-B1384B9C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21C5E1-5C4C-65A2-6CE1-C2DA15E23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EEEFF2-54E3-8E13-03EC-A76062054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F1C042-FBB1-337D-DB6D-7D3E8F275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55481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DA4A-A780-3288-FC34-629B1F09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01BA2C-0438-4F8C-586E-B5C3993A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A04211-B19D-F027-9F76-77A10289E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666CEC-8A8E-A332-44EA-DB7134166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128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-1"/>
            <a:ext cx="9143999" cy="4521941"/>
          </a:xfrm>
          <a:solidFill>
            <a:srgbClr val="8592BC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..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2"/>
            <a:ext cx="9144000" cy="371933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..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17415" y="1052736"/>
            <a:ext cx="7664860" cy="1656184"/>
          </a:xfrm>
          <a:prstGeom prst="rect">
            <a:avLst/>
          </a:prstGeom>
        </p:spPr>
        <p:txBody>
          <a:bodyPr/>
          <a:lstStyle>
            <a:lvl1pPr algn="l">
              <a:defRPr sz="4048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presentation</a:t>
            </a:r>
          </a:p>
        </p:txBody>
      </p:sp>
      <p:sp>
        <p:nvSpPr>
          <p:cNvPr id="20" name="Tijdelijke aanduiding voor tekst 19"/>
          <p:cNvSpPr>
            <a:spLocks noGrp="1"/>
          </p:cNvSpPr>
          <p:nvPr>
            <p:ph type="body" sz="quarter" idx="14" hasCustomPrompt="1"/>
          </p:nvPr>
        </p:nvSpPr>
        <p:spPr>
          <a:xfrm>
            <a:off x="1117415" y="3934610"/>
            <a:ext cx="5186043" cy="393700"/>
          </a:xfrm>
        </p:spPr>
        <p:txBody>
          <a:bodyPr anchor="ctr">
            <a:normAutofit/>
          </a:bodyPr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Subtitle presentation</a:t>
            </a:r>
          </a:p>
        </p:txBody>
      </p:sp>
      <p:sp>
        <p:nvSpPr>
          <p:cNvPr id="8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597580" y="3934685"/>
            <a:ext cx="3243080" cy="39412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799">
                <a:solidFill>
                  <a:schemeClr val="bg1"/>
                </a:solidFill>
              </a:defRPr>
            </a:lvl1pPr>
          </a:lstStyle>
          <a:p>
            <a:fld id="{928F9493-D671-4F27-99EF-9D103FC79999}" type="datetime1">
              <a:rPr lang="nl-NL" noProof="0" smtClean="0"/>
              <a:t>30-6-2026</a:t>
            </a:fld>
            <a:endParaRPr lang="en-GB" noProof="0" dirty="0"/>
          </a:p>
        </p:txBody>
      </p:sp>
      <p:sp>
        <p:nvSpPr>
          <p:cNvPr id="19" name="Rechthoek 18"/>
          <p:cNvSpPr/>
          <p:nvPr userDrawn="1"/>
        </p:nvSpPr>
        <p:spPr bwMode="auto">
          <a:xfrm>
            <a:off x="0" y="6453336"/>
            <a:ext cx="914400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68544" tIns="34272" rIns="68544" bIns="3427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434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1499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2" y="-1"/>
            <a:ext cx="9144003" cy="6858004"/>
            <a:chOff x="-3" y="-1"/>
            <a:chExt cx="12198354" cy="6858004"/>
          </a:xfrm>
        </p:grpSpPr>
        <p:sp>
          <p:nvSpPr>
            <p:cNvPr id="12" name="Rechthoek 11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-3205847" y="3205844"/>
              <a:ext cx="6858003" cy="446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8" name="Rechthoek 19"/>
          <p:cNvSpPr/>
          <p:nvPr userDrawn="1"/>
        </p:nvSpPr>
        <p:spPr bwMode="auto">
          <a:xfrm>
            <a:off x="4572000" y="6453336"/>
            <a:ext cx="457200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68544" tIns="34272" rIns="68544" bIns="3427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434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1499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591E15-E194-C33F-60C0-7676A4C186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862" y="4894519"/>
            <a:ext cx="1434468" cy="158417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E5282D4-0BD7-9C45-3581-7CB384CEB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66489" y="5577152"/>
            <a:ext cx="2160240" cy="31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7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877F709-57FD-8D89-D643-6C750102BF15}"/>
              </a:ext>
            </a:extLst>
          </p:cNvPr>
          <p:cNvSpPr/>
          <p:nvPr userDrawn="1"/>
        </p:nvSpPr>
        <p:spPr>
          <a:xfrm>
            <a:off x="-1" y="1"/>
            <a:ext cx="9160121" cy="8478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49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188640"/>
            <a:ext cx="8537321" cy="5536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303339" y="1252836"/>
            <a:ext cx="5132307" cy="4795836"/>
          </a:xfrm>
          <a:noFill/>
        </p:spPr>
        <p:txBody>
          <a:bodyPr vert="horz" wrap="none" lIns="0" tIns="0" rIns="0" bIns="0"/>
          <a:lstStyle>
            <a:lvl1pPr marL="271318" indent="-271318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799">
                <a:solidFill>
                  <a:schemeClr val="bg2"/>
                </a:solidFill>
              </a:defRPr>
            </a:lvl1pPr>
            <a:lvl2pPr marL="406977" indent="-135659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 marL="271318" indent="-271318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tabLst/>
              <a:defRPr sz="1799">
                <a:solidFill>
                  <a:schemeClr val="bg2"/>
                </a:solidFill>
              </a:defRPr>
            </a:lvl6pPr>
            <a:lvl7pPr marL="406977" indent="-135659">
              <a:buClr>
                <a:schemeClr val="bg2"/>
              </a:buClr>
              <a:buFont typeface="Arial" panose="020B0604020202020204" pitchFamily="34" charset="0"/>
              <a:buChar char="•"/>
              <a:defRPr>
                <a:solidFill>
                  <a:schemeClr val="bg2"/>
                </a:solidFill>
              </a:defRPr>
            </a:lvl7pPr>
            <a:lvl8pPr>
              <a:defRPr>
                <a:solidFill>
                  <a:schemeClr val="bg2"/>
                </a:solidFill>
              </a:defRPr>
            </a:lvl8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en-GB" noProof="0" dirty="0"/>
              <a:t>Numbering</a:t>
            </a:r>
          </a:p>
          <a:p>
            <a:pPr lvl="1"/>
            <a:r>
              <a:rPr lang="en-GB" noProof="0" dirty="0"/>
              <a:t>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yellow</a:t>
            </a:r>
          </a:p>
          <a:p>
            <a:pPr lvl="5"/>
            <a:r>
              <a:rPr lang="en-GB" noProof="0" dirty="0"/>
              <a:t>Numbering</a:t>
            </a:r>
          </a:p>
          <a:p>
            <a:pPr lvl="6"/>
            <a:r>
              <a:rPr lang="en-GB" noProof="0" dirty="0"/>
              <a:t>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sp>
        <p:nvSpPr>
          <p:cNvPr id="7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5587316" y="1252539"/>
            <a:ext cx="3253234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grpSp>
        <p:nvGrpSpPr>
          <p:cNvPr id="8" name="Grid" hidden="1"/>
          <p:cNvGrpSpPr/>
          <p:nvPr userDrawn="1"/>
        </p:nvGrpSpPr>
        <p:grpSpPr>
          <a:xfrm>
            <a:off x="0" y="0"/>
            <a:ext cx="9144002" cy="6858004"/>
            <a:chOff x="-2" y="-1"/>
            <a:chExt cx="12198353" cy="6858004"/>
          </a:xfrm>
        </p:grpSpPr>
        <p:sp>
          <p:nvSpPr>
            <p:cNvPr id="9" name="Rechthoek 8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392346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2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</p:spTree>
    <p:extLst>
      <p:ext uri="{BB962C8B-B14F-4D97-AF65-F5344CB8AC3E}">
        <p14:creationId xmlns:p14="http://schemas.microsoft.com/office/powerpoint/2010/main" val="359259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75%/2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303339" y="1252836"/>
            <a:ext cx="5941976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9144002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500358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6396985" y="1252539"/>
            <a:ext cx="2443565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</p:spTree>
    <p:extLst>
      <p:ext uri="{BB962C8B-B14F-4D97-AF65-F5344CB8AC3E}">
        <p14:creationId xmlns:p14="http://schemas.microsoft.com/office/powerpoint/2010/main" val="359030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50%/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303339" y="1252836"/>
            <a:ext cx="4192826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44002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648161" y="1252539"/>
            <a:ext cx="4192389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368276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5%/7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303339" y="1252836"/>
            <a:ext cx="2649325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44002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611099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3104334" y="1252539"/>
            <a:ext cx="5736216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413231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44002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303339" y="1252539"/>
            <a:ext cx="8537211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3929258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303339" y="1252836"/>
            <a:ext cx="4192826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59312" cy="6858004"/>
            <a:chOff x="-2" y="-1"/>
            <a:chExt cx="12218777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 rot="5400000">
              <a:off x="5568012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 rot="10800000">
              <a:off x="5360772" y="3549589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648161" y="1252539"/>
            <a:ext cx="202025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7" name="Tijdelijke aanduiding voor afbeelding 13"/>
          <p:cNvSpPr>
            <a:spLocks noGrp="1"/>
          </p:cNvSpPr>
          <p:nvPr>
            <p:ph type="pic" sz="quarter" idx="14" hasCustomPrompt="1"/>
          </p:nvPr>
        </p:nvSpPr>
        <p:spPr>
          <a:xfrm>
            <a:off x="6820408" y="1252539"/>
            <a:ext cx="202025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8" name="Tijdelijke aanduiding voor afbeelding 13"/>
          <p:cNvSpPr>
            <a:spLocks noGrp="1"/>
          </p:cNvSpPr>
          <p:nvPr>
            <p:ph type="pic" sz="quarter" idx="15" hasCustomPrompt="1"/>
          </p:nvPr>
        </p:nvSpPr>
        <p:spPr>
          <a:xfrm>
            <a:off x="4648161" y="3751624"/>
            <a:ext cx="202025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9" name="Tijdelijke aanduiding voor afbeelding 13"/>
          <p:cNvSpPr>
            <a:spLocks noGrp="1"/>
          </p:cNvSpPr>
          <p:nvPr>
            <p:ph type="pic" sz="quarter" idx="16" hasCustomPrompt="1"/>
          </p:nvPr>
        </p:nvSpPr>
        <p:spPr>
          <a:xfrm>
            <a:off x="6820408" y="3751624"/>
            <a:ext cx="2020252" cy="2297049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20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367317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303339" y="1252836"/>
            <a:ext cx="4192826" cy="4795836"/>
          </a:xfrm>
        </p:spPr>
        <p:txBody>
          <a:bodyPr vert="horz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44002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2670173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 rot="5400000">
              <a:off x="5568012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4647835" y="1252538"/>
            <a:ext cx="2020252" cy="4796134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7" name="Tijdelijke aanduiding voor afbeelding 13"/>
          <p:cNvSpPr>
            <a:spLocks noGrp="1"/>
          </p:cNvSpPr>
          <p:nvPr>
            <p:ph type="pic" sz="quarter" idx="14" hasCustomPrompt="1"/>
          </p:nvPr>
        </p:nvSpPr>
        <p:spPr>
          <a:xfrm>
            <a:off x="6820082" y="1252538"/>
            <a:ext cx="2020252" cy="4796134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an image</a:t>
            </a:r>
          </a:p>
        </p:txBody>
      </p:sp>
      <p:sp>
        <p:nvSpPr>
          <p:cNvPr id="1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414698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44002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4" name="Tijdelijke aanduiding voor grafiek 3"/>
          <p:cNvSpPr>
            <a:spLocks noGrp="1"/>
          </p:cNvSpPr>
          <p:nvPr>
            <p:ph type="chart" sz="quarter" idx="13" hasCustomPrompt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 graph</a:t>
            </a:r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270295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03339" y="404664"/>
            <a:ext cx="8537321" cy="4320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Title</a:t>
            </a:r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-1" y="-1"/>
            <a:ext cx="9144002" cy="6858003"/>
            <a:chOff x="-2" y="-1"/>
            <a:chExt cx="12198353" cy="6858003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3" name="Tijdelijke aanduiding voor media 12"/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GB" noProof="0" dirty="0"/>
              <a:t>Click here to insert</a:t>
            </a:r>
            <a:br>
              <a:rPr lang="en-GB" noProof="0" dirty="0"/>
            </a:br>
            <a:r>
              <a:rPr lang="en-GB" noProof="0" dirty="0"/>
              <a:t>a video</a:t>
            </a:r>
          </a:p>
        </p:txBody>
      </p:sp>
      <p:sp>
        <p:nvSpPr>
          <p:cNvPr id="14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846023" y="6473106"/>
            <a:ext cx="20575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EE7099E-8998-4851-915A-4F4831808297}" type="slidenum">
              <a:rPr lang="nl-NL" smtClean="0"/>
              <a:pPr/>
              <a:t>‹#›</a:t>
            </a:fld>
            <a:r>
              <a:rPr lang="nl-NL" dirty="0"/>
              <a:t>/16</a:t>
            </a:r>
          </a:p>
        </p:txBody>
      </p:sp>
    </p:spTree>
    <p:extLst>
      <p:ext uri="{BB962C8B-B14F-4D97-AF65-F5344CB8AC3E}">
        <p14:creationId xmlns:p14="http://schemas.microsoft.com/office/powerpoint/2010/main" val="2653170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2"/>
            <a:ext cx="9144000" cy="4521939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dirty="0"/>
              <a:t>..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17415" y="1052736"/>
            <a:ext cx="7664860" cy="1656184"/>
          </a:xfrm>
          <a:prstGeom prst="rect">
            <a:avLst/>
          </a:prstGeom>
        </p:spPr>
        <p:txBody>
          <a:bodyPr/>
          <a:lstStyle>
            <a:lvl1pPr algn="l">
              <a:defRPr sz="4048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closure</a:t>
            </a: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2" y="-1"/>
            <a:ext cx="9144003" cy="6858004"/>
            <a:chOff x="-3" y="-1"/>
            <a:chExt cx="12198354" cy="6858004"/>
          </a:xfrm>
        </p:grpSpPr>
        <p:sp>
          <p:nvSpPr>
            <p:cNvPr id="12" name="Rechthoek 11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-3205847" y="3205844"/>
              <a:ext cx="6858003" cy="4463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4" name="Rechthoek 13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5" name="Rechthoek 14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6" name="Rechthoek 15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9" name="Rechthoek 18"/>
          <p:cNvSpPr/>
          <p:nvPr userDrawn="1"/>
        </p:nvSpPr>
        <p:spPr bwMode="auto">
          <a:xfrm>
            <a:off x="0" y="6453336"/>
            <a:ext cx="914400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68544" tIns="34272" rIns="68544" bIns="3427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434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1499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4DB405-06F3-CD0F-BCDD-8558B436FB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81" y="4539716"/>
            <a:ext cx="1434468" cy="191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1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303339" y="1252836"/>
            <a:ext cx="8537321" cy="47958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</a:t>
            </a:r>
          </a:p>
          <a:p>
            <a:pPr lvl="2"/>
            <a:r>
              <a:rPr lang="en-GB" noProof="0" dirty="0"/>
              <a:t>Plain text</a:t>
            </a:r>
          </a:p>
          <a:p>
            <a:pPr lvl="3"/>
            <a:r>
              <a:rPr lang="en-GB" noProof="0" dirty="0"/>
              <a:t>Header dark blue</a:t>
            </a:r>
          </a:p>
          <a:p>
            <a:pPr lvl="4"/>
            <a:r>
              <a:rPr lang="en-GB" noProof="0" dirty="0"/>
              <a:t>Header light blue</a:t>
            </a:r>
          </a:p>
          <a:p>
            <a:pPr lvl="5"/>
            <a:r>
              <a:rPr lang="en-GB" noProof="0" dirty="0"/>
              <a:t>Bullet</a:t>
            </a:r>
          </a:p>
          <a:p>
            <a:pPr lvl="6"/>
            <a:r>
              <a:rPr lang="en-GB" noProof="0" dirty="0"/>
              <a:t>Sub-bullet</a:t>
            </a:r>
          </a:p>
          <a:p>
            <a:pPr lvl="7"/>
            <a:r>
              <a:rPr lang="en-GB" sz="1349" noProof="0" dirty="0"/>
              <a:t>Plain text</a:t>
            </a:r>
          </a:p>
          <a:p>
            <a:pPr lvl="8"/>
            <a:r>
              <a:rPr lang="en-GB" noProof="0" dirty="0"/>
              <a:t>Header dark blue</a:t>
            </a:r>
          </a:p>
        </p:txBody>
      </p:sp>
      <p:grpSp>
        <p:nvGrpSpPr>
          <p:cNvPr id="11" name="Grid" hidden="1"/>
          <p:cNvGrpSpPr/>
          <p:nvPr userDrawn="1"/>
        </p:nvGrpSpPr>
        <p:grpSpPr>
          <a:xfrm>
            <a:off x="-1" y="-1"/>
            <a:ext cx="9144002" cy="6858003"/>
            <a:chOff x="-2" y="-1"/>
            <a:chExt cx="12198353" cy="6858003"/>
          </a:xfrm>
        </p:grpSpPr>
        <p:sp>
          <p:nvSpPr>
            <p:cNvPr id="7" name="Rechthoek 6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8" name="Rechthoek 7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20" name="Rechthoek 19"/>
          <p:cNvSpPr/>
          <p:nvPr userDrawn="1"/>
        </p:nvSpPr>
        <p:spPr bwMode="auto">
          <a:xfrm>
            <a:off x="0" y="6453336"/>
            <a:ext cx="9144000" cy="40466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68544" tIns="34272" rIns="68544" bIns="34272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434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</a:pPr>
            <a:endParaRPr kumimoji="0" lang="en-GB" sz="1499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Minion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8D171C-2D07-4F71-3646-690755B19BB7}"/>
              </a:ext>
            </a:extLst>
          </p:cNvPr>
          <p:cNvSpPr/>
          <p:nvPr userDrawn="1"/>
        </p:nvSpPr>
        <p:spPr>
          <a:xfrm>
            <a:off x="-1" y="0"/>
            <a:ext cx="9160121" cy="980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49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AC3EE6C-6B55-DA93-8E4C-B6BC206F7CDF}"/>
              </a:ext>
            </a:extLst>
          </p:cNvPr>
          <p:cNvSpPr txBox="1">
            <a:spLocks/>
          </p:cNvSpPr>
          <p:nvPr userDrawn="1"/>
        </p:nvSpPr>
        <p:spPr>
          <a:xfrm>
            <a:off x="303339" y="188641"/>
            <a:ext cx="8537321" cy="50770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699" dirty="0"/>
              <a:t>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ED5B8-FA75-9EBD-0AA3-1FA141D6C576}"/>
              </a:ext>
            </a:extLst>
          </p:cNvPr>
          <p:cNvSpPr txBox="1"/>
          <p:nvPr userDrawn="1"/>
        </p:nvSpPr>
        <p:spPr>
          <a:xfrm>
            <a:off x="8451230" y="6408114"/>
            <a:ext cx="615544" cy="371118"/>
          </a:xfrm>
          <a:prstGeom prst="rect">
            <a:avLst/>
          </a:prstGeom>
          <a:noFill/>
        </p:spPr>
        <p:txBody>
          <a:bodyPr wrap="none" lIns="80958" tIns="80958" rIns="80958" bIns="80958" rtlCol="0">
            <a:spAutoFit/>
          </a:bodyPr>
          <a:lstStyle/>
          <a:p>
            <a:fld id="{606ABE3E-1E57-4598-A081-84D3BC2135DE}" type="slidenum">
              <a:rPr lang="en-US" altLang="ko-KR" sz="1349" noProof="0" smtClean="0">
                <a:solidFill>
                  <a:schemeClr val="bg1"/>
                </a:solidFill>
              </a:rPr>
              <a:t>‹#›</a:t>
            </a:fld>
            <a:r>
              <a:rPr lang="en-US" altLang="ko-KR" sz="1349" noProof="0" dirty="0">
                <a:solidFill>
                  <a:schemeClr val="bg1"/>
                </a:solidFill>
              </a:rPr>
              <a:t>/22</a:t>
            </a:r>
            <a:endParaRPr lang="ko-KR" altLang="en-US" sz="1349" noProof="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80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58" r:id="rId3"/>
    <p:sldLayoutId id="2147483665" r:id="rId4"/>
    <p:sldLayoutId id="2147483661" r:id="rId5"/>
    <p:sldLayoutId id="2147483664" r:id="rId6"/>
    <p:sldLayoutId id="2147483666" r:id="rId7"/>
    <p:sldLayoutId id="2147483662" r:id="rId8"/>
    <p:sldLayoutId id="2147483663" r:id="rId9"/>
    <p:sldLayoutId id="2147483667" r:id="rId10"/>
    <p:sldLayoutId id="2147483668" r:id="rId11"/>
    <p:sldLayoutId id="2147483670" r:id="rId12"/>
  </p:sldLayoutIdLst>
  <p:hf hdr="0" ftr="0" dt="0"/>
  <p:txStyles>
    <p:titleStyle>
      <a:lvl1pPr algn="l" defTabSz="685434" rtl="0" eaLnBrk="1" latinLnBrk="1" hangingPunct="1">
        <a:spcBef>
          <a:spcPct val="0"/>
        </a:spcBef>
        <a:buNone/>
        <a:defRPr sz="2998" b="1" i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35659" indent="-135659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Clr>
          <a:schemeClr val="bg2"/>
        </a:buClr>
        <a:buFont typeface="Arial" panose="020B0604020202020204" pitchFamily="34" charset="0"/>
        <a:buChar char="•"/>
        <a:defRPr sz="1349" kern="1200">
          <a:solidFill>
            <a:schemeClr val="bg2"/>
          </a:solidFill>
          <a:latin typeface="+mn-lt"/>
          <a:ea typeface="+mn-ea"/>
          <a:cs typeface="+mn-cs"/>
        </a:defRPr>
      </a:lvl1pPr>
      <a:lvl2pPr marL="271318" indent="-135659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Clr>
          <a:schemeClr val="bg2"/>
        </a:buClr>
        <a:buFont typeface="Arial" panose="020B0604020202020204" pitchFamily="34" charset="0"/>
        <a:buChar char="-"/>
        <a:defRPr sz="1199" kern="1200">
          <a:solidFill>
            <a:schemeClr val="bg2"/>
          </a:solidFill>
          <a:latin typeface="+mn-lt"/>
          <a:ea typeface="+mn-ea"/>
          <a:cs typeface="+mn-cs"/>
        </a:defRPr>
      </a:lvl2pPr>
      <a:lvl3pPr marL="0" indent="0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sz="1349" kern="1200">
          <a:solidFill>
            <a:schemeClr val="bg2"/>
          </a:solidFill>
          <a:latin typeface="+mn-lt"/>
          <a:ea typeface="+mn-ea"/>
          <a:cs typeface="+mn-cs"/>
        </a:defRPr>
      </a:lvl3pPr>
      <a:lvl4pPr marL="0" indent="0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sz="1349" b="1" kern="1200">
          <a:solidFill>
            <a:schemeClr val="bg2"/>
          </a:solidFill>
          <a:latin typeface="+mn-lt"/>
          <a:ea typeface="+mn-ea"/>
          <a:cs typeface="+mn-cs"/>
        </a:defRPr>
      </a:lvl4pPr>
      <a:lvl5pPr marL="0" indent="0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sz="1349" b="1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35659" indent="-135659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Clr>
          <a:schemeClr val="bg2"/>
        </a:buClr>
        <a:buFont typeface="Arial" panose="020B0604020202020204" pitchFamily="34" charset="0"/>
        <a:buChar char="•"/>
        <a:defRPr sz="1349" kern="1200">
          <a:solidFill>
            <a:schemeClr val="bg2"/>
          </a:solidFill>
          <a:latin typeface="+mn-lt"/>
          <a:ea typeface="+mn-ea"/>
          <a:cs typeface="+mn-cs"/>
        </a:defRPr>
      </a:lvl6pPr>
      <a:lvl7pPr marL="271318" indent="-135659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Clr>
          <a:schemeClr val="bg2"/>
        </a:buClr>
        <a:buFont typeface="Arial" panose="020B0604020202020204" pitchFamily="34" charset="0"/>
        <a:buChar char="-"/>
        <a:defRPr sz="1199" kern="1200">
          <a:solidFill>
            <a:schemeClr val="bg2"/>
          </a:solidFill>
          <a:latin typeface="+mn-lt"/>
          <a:ea typeface="+mn-ea"/>
          <a:cs typeface="+mn-cs"/>
        </a:defRPr>
      </a:lvl7pPr>
      <a:lvl8pPr marL="0" indent="0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sz="1199" kern="1200">
          <a:solidFill>
            <a:schemeClr val="bg2"/>
          </a:solidFill>
          <a:latin typeface="+mn-lt"/>
          <a:ea typeface="+mn-ea"/>
          <a:cs typeface="+mn-cs"/>
        </a:defRPr>
      </a:lvl8pPr>
      <a:lvl9pPr marL="0" indent="0" algn="l" defTabSz="685434" rtl="0" eaLnBrk="1" latinLnBrk="1" hangingPunct="1">
        <a:lnSpc>
          <a:spcPct val="110000"/>
        </a:lnSpc>
        <a:spcBef>
          <a:spcPts val="450"/>
        </a:spcBef>
        <a:spcAft>
          <a:spcPts val="450"/>
        </a:spcAft>
        <a:buFont typeface="Arial" panose="020B0604020202020204" pitchFamily="34" charset="0"/>
        <a:buNone/>
        <a:defRPr sz="1349" b="1" kern="1200" baseline="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17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434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151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868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586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303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020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1737" algn="l" defTabSz="685434" rtl="0" eaLnBrk="1" latinLnBrk="1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gi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19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4.png"/><Relationship Id="rId5" Type="http://schemas.openxmlformats.org/officeDocument/2006/relationships/tags" Target="../tags/tag6.xml"/><Relationship Id="rId15" Type="http://schemas.openxmlformats.org/officeDocument/2006/relationships/image" Target="../media/image18.png"/><Relationship Id="rId10" Type="http://schemas.openxmlformats.org/officeDocument/2006/relationships/image" Target="../media/image91.png"/><Relationship Id="rId4" Type="http://schemas.openxmlformats.org/officeDocument/2006/relationships/tags" Target="../tags/tag5.xml"/><Relationship Id="rId9" Type="http://schemas.openxmlformats.org/officeDocument/2006/relationships/image" Target="../media/image86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8.png"/><Relationship Id="rId18" Type="http://schemas.openxmlformats.org/officeDocument/2006/relationships/image" Target="../media/image25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17.png"/><Relationship Id="rId17" Type="http://schemas.openxmlformats.org/officeDocument/2006/relationships/image" Target="../media/image24.png"/><Relationship Id="rId2" Type="http://schemas.openxmlformats.org/officeDocument/2006/relationships/tags" Target="../tags/tag9.xml"/><Relationship Id="rId16" Type="http://schemas.openxmlformats.org/officeDocument/2006/relationships/image" Target="../media/image23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16.png"/><Relationship Id="rId5" Type="http://schemas.openxmlformats.org/officeDocument/2006/relationships/tags" Target="../tags/tag12.xml"/><Relationship Id="rId15" Type="http://schemas.openxmlformats.org/officeDocument/2006/relationships/image" Target="../media/image22.png"/><Relationship Id="rId10" Type="http://schemas.openxmlformats.org/officeDocument/2006/relationships/image" Target="../media/image15.png"/><Relationship Id="rId4" Type="http://schemas.openxmlformats.org/officeDocument/2006/relationships/tags" Target="../tags/tag11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6.pn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9.png"/><Relationship Id="rId17" Type="http://schemas.openxmlformats.org/officeDocument/2006/relationships/image" Target="../media/image29.png"/><Relationship Id="rId2" Type="http://schemas.openxmlformats.org/officeDocument/2006/relationships/tags" Target="../tags/tag16.xml"/><Relationship Id="rId16" Type="http://schemas.openxmlformats.org/officeDocument/2006/relationships/image" Target="../media/image28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27.png"/><Relationship Id="rId5" Type="http://schemas.openxmlformats.org/officeDocument/2006/relationships/tags" Target="../tags/tag19.xml"/><Relationship Id="rId1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tags" Target="../tags/tag18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8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270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25.xml"/><Relationship Id="rId7" Type="http://schemas.openxmlformats.org/officeDocument/2006/relationships/image" Target="../media/image37.png"/><Relationship Id="rId12" Type="http://schemas.openxmlformats.org/officeDocument/2006/relationships/image" Target="../media/image90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notesSlide" Target="../notesSlides/notesSlide10.xml"/><Relationship Id="rId11" Type="http://schemas.openxmlformats.org/officeDocument/2006/relationships/image" Target="../media/image4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0.png"/><Relationship Id="rId4" Type="http://schemas.openxmlformats.org/officeDocument/2006/relationships/tags" Target="../tags/tag26.xml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5.png"/><Relationship Id="rId3" Type="http://schemas.openxmlformats.org/officeDocument/2006/relationships/tags" Target="../tags/tag29.xml"/><Relationship Id="rId21" Type="http://schemas.openxmlformats.org/officeDocument/2006/relationships/image" Target="../media/image210.png"/><Relationship Id="rId7" Type="http://schemas.openxmlformats.org/officeDocument/2006/relationships/notesSlide" Target="../notesSlides/notesSlide12.xml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" Type="http://schemas.openxmlformats.org/officeDocument/2006/relationships/tags" Target="../tags/tag28.xml"/><Relationship Id="rId16" Type="http://schemas.openxmlformats.org/officeDocument/2006/relationships/image" Target="../media/image160.png"/><Relationship Id="rId20" Type="http://schemas.openxmlformats.org/officeDocument/2006/relationships/image" Target="../media/image47.png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7.png"/><Relationship Id="rId5" Type="http://schemas.openxmlformats.org/officeDocument/2006/relationships/tags" Target="../tags/tag31.xml"/><Relationship Id="rId15" Type="http://schemas.openxmlformats.org/officeDocument/2006/relationships/image" Target="../media/image150.png"/><Relationship Id="rId10" Type="http://schemas.openxmlformats.org/officeDocument/2006/relationships/image" Target="../media/image120.png"/><Relationship Id="rId19" Type="http://schemas.openxmlformats.org/officeDocument/2006/relationships/image" Target="../media/image46.png"/><Relationship Id="rId4" Type="http://schemas.openxmlformats.org/officeDocument/2006/relationships/tags" Target="../tags/tag30.xml"/><Relationship Id="rId1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51.png"/><Relationship Id="rId18" Type="http://schemas.openxmlformats.org/officeDocument/2006/relationships/image" Target="../media/image310.png"/><Relationship Id="rId3" Type="http://schemas.openxmlformats.org/officeDocument/2006/relationships/tags" Target="../tags/tag34.xml"/><Relationship Id="rId7" Type="http://schemas.openxmlformats.org/officeDocument/2006/relationships/image" Target="../media/image48.png"/><Relationship Id="rId12" Type="http://schemas.openxmlformats.org/officeDocument/2006/relationships/image" Target="../media/image50.png"/><Relationship Id="rId17" Type="http://schemas.openxmlformats.org/officeDocument/2006/relationships/image" Target="../media/image300.png"/><Relationship Id="rId2" Type="http://schemas.openxmlformats.org/officeDocument/2006/relationships/tags" Target="../tags/tag33.xml"/><Relationship Id="rId16" Type="http://schemas.openxmlformats.org/officeDocument/2006/relationships/image" Target="../media/image290.png"/><Relationship Id="rId1" Type="http://schemas.openxmlformats.org/officeDocument/2006/relationships/tags" Target="../tags/tag32.xml"/><Relationship Id="rId6" Type="http://schemas.openxmlformats.org/officeDocument/2006/relationships/image" Target="../media/image220.png"/><Relationship Id="rId11" Type="http://schemas.openxmlformats.org/officeDocument/2006/relationships/image" Target="../media/image49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40.png"/><Relationship Id="rId10" Type="http://schemas.openxmlformats.org/officeDocument/2006/relationships/image" Target="../media/image260.png"/><Relationship Id="rId19" Type="http://schemas.openxmlformats.org/officeDocument/2006/relationships/image" Target="../media/image52.png"/><Relationship Id="rId4" Type="http://schemas.openxmlformats.org/officeDocument/2006/relationships/slideLayout" Target="../slideLayouts/slideLayout2.xml"/><Relationship Id="rId1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7.png"/><Relationship Id="rId26" Type="http://schemas.openxmlformats.org/officeDocument/2006/relationships/image" Target="../media/image55.png"/><Relationship Id="rId3" Type="http://schemas.openxmlformats.org/officeDocument/2006/relationships/tags" Target="../tags/tag37.xml"/><Relationship Id="rId21" Type="http://schemas.openxmlformats.org/officeDocument/2006/relationships/image" Target="../media/image27.png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image" Target="../media/image16.png"/><Relationship Id="rId25" Type="http://schemas.openxmlformats.org/officeDocument/2006/relationships/image" Target="../media/image54.png"/><Relationship Id="rId2" Type="http://schemas.openxmlformats.org/officeDocument/2006/relationships/tags" Target="../tags/tag36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58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image" Target="../media/image53.png"/><Relationship Id="rId5" Type="http://schemas.openxmlformats.org/officeDocument/2006/relationships/tags" Target="../tags/tag39.xml"/><Relationship Id="rId15" Type="http://schemas.openxmlformats.org/officeDocument/2006/relationships/notesSlide" Target="../notesSlides/notesSlide14.xml"/><Relationship Id="rId23" Type="http://schemas.openxmlformats.org/officeDocument/2006/relationships/image" Target="../media/image29.png"/><Relationship Id="rId28" Type="http://schemas.openxmlformats.org/officeDocument/2006/relationships/image" Target="../media/image57.png"/><Relationship Id="rId10" Type="http://schemas.openxmlformats.org/officeDocument/2006/relationships/tags" Target="../tags/tag44.xml"/><Relationship Id="rId19" Type="http://schemas.openxmlformats.org/officeDocument/2006/relationships/image" Target="../media/image18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28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8.png"/><Relationship Id="rId26" Type="http://schemas.openxmlformats.org/officeDocument/2006/relationships/image" Target="../media/image63.png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image" Target="../media/image17.png"/><Relationship Id="rId25" Type="http://schemas.openxmlformats.org/officeDocument/2006/relationships/image" Target="../media/image62.png"/><Relationship Id="rId2" Type="http://schemas.openxmlformats.org/officeDocument/2006/relationships/tags" Target="../tags/tag49.xml"/><Relationship Id="rId16" Type="http://schemas.openxmlformats.org/officeDocument/2006/relationships/image" Target="../media/image16.png"/><Relationship Id="rId20" Type="http://schemas.openxmlformats.org/officeDocument/2006/relationships/image" Target="../media/image55.png"/><Relationship Id="rId29" Type="http://schemas.openxmlformats.org/officeDocument/2006/relationships/image" Target="../media/image66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image" Target="../media/image61.png"/><Relationship Id="rId5" Type="http://schemas.openxmlformats.org/officeDocument/2006/relationships/tags" Target="../tags/tag52.xml"/><Relationship Id="rId15" Type="http://schemas.openxmlformats.org/officeDocument/2006/relationships/image" Target="../media/image15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tags" Target="../tags/tag57.xml"/><Relationship Id="rId19" Type="http://schemas.openxmlformats.org/officeDocument/2006/relationships/image" Target="../media/image19.png"/><Relationship Id="rId31" Type="http://schemas.openxmlformats.org/officeDocument/2006/relationships/image" Target="../media/image68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notesSlide" Target="../notesSlides/notesSlide15.xml"/><Relationship Id="rId22" Type="http://schemas.openxmlformats.org/officeDocument/2006/relationships/image" Target="../media/image480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image" Target="../media/image16.png"/><Relationship Id="rId18" Type="http://schemas.openxmlformats.org/officeDocument/2006/relationships/image" Target="../media/image56.png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9.png"/><Relationship Id="rId17" Type="http://schemas.openxmlformats.org/officeDocument/2006/relationships/image" Target="../media/image29.png"/><Relationship Id="rId2" Type="http://schemas.openxmlformats.org/officeDocument/2006/relationships/tags" Target="../tags/tag61.xml"/><Relationship Id="rId16" Type="http://schemas.openxmlformats.org/officeDocument/2006/relationships/image" Target="../media/image28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69.png"/><Relationship Id="rId5" Type="http://schemas.openxmlformats.org/officeDocument/2006/relationships/tags" Target="../tags/tag64.xml"/><Relationship Id="rId15" Type="http://schemas.openxmlformats.org/officeDocument/2006/relationships/image" Target="../media/image17.png"/><Relationship Id="rId10" Type="http://schemas.openxmlformats.org/officeDocument/2006/relationships/notesSlide" Target="../notesSlides/notesSlide16.xml"/><Relationship Id="rId19" Type="http://schemas.openxmlformats.org/officeDocument/2006/relationships/image" Target="../media/image57.png"/><Relationship Id="rId4" Type="http://schemas.openxmlformats.org/officeDocument/2006/relationships/tags" Target="../tags/tag6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2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7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6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72.png"/><Relationship Id="rId5" Type="http://schemas.openxmlformats.org/officeDocument/2006/relationships/image" Target="../media/image75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7" Type="http://schemas.openxmlformats.org/officeDocument/2006/relationships/hyperlink" Target="mailto:jeonjh@gmail.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eonjh@postech.ac.kr" TargetMode="Externa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ekst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30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/>
              <a:t>P</a:t>
            </a:r>
            <a:r>
              <a:rPr lang="ko-KR" altLang="en-US" b="1" dirty="0" err="1"/>
              <a:t>ㄹㄹㄹㄹ</a:t>
            </a:r>
            <a:endParaRPr lang="en-US" b="1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99791" y="1971597"/>
            <a:ext cx="8258617" cy="646011"/>
          </a:xfrm>
        </p:spPr>
        <p:txBody>
          <a:bodyPr wrap="square">
            <a:spAutoFit/>
          </a:bodyPr>
          <a:lstStyle/>
          <a:p>
            <a:r>
              <a:rPr lang="nl-NL" sz="3598" dirty="0"/>
              <a:t> 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14"/>
          </p:nvPr>
        </p:nvSpPr>
        <p:spPr>
          <a:xfrm>
            <a:off x="5867469" y="3808464"/>
            <a:ext cx="3098995" cy="280974"/>
          </a:xfrm>
        </p:spPr>
        <p:txBody>
          <a:bodyPr wrap="square">
            <a:spAutoFit/>
          </a:bodyPr>
          <a:lstStyle/>
          <a:p>
            <a:r>
              <a:rPr lang="nl-NL" dirty="0"/>
              <a:t>Dongho Lee 	    | 26.07.01</a:t>
            </a:r>
          </a:p>
        </p:txBody>
      </p:sp>
      <p:sp>
        <p:nvSpPr>
          <p:cNvPr id="2" name="제목 6">
            <a:extLst>
              <a:ext uri="{FF2B5EF4-FFF2-40B4-BE49-F238E27FC236}">
                <a16:creationId xmlns:a16="http://schemas.microsoft.com/office/drawing/2014/main" id="{25399426-1210-3B05-EA35-1F272A47893B}"/>
              </a:ext>
            </a:extLst>
          </p:cNvPr>
          <p:cNvSpPr txBox="1">
            <a:spLocks/>
          </p:cNvSpPr>
          <p:nvPr/>
        </p:nvSpPr>
        <p:spPr>
          <a:xfrm>
            <a:off x="251520" y="1489150"/>
            <a:ext cx="6724918" cy="1754326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685434" rtl="0" eaLnBrk="1" latinLnBrk="1" hangingPunct="1">
              <a:spcBef>
                <a:spcPct val="0"/>
              </a:spcBef>
              <a:buNone/>
              <a:defRPr sz="4048" b="1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bg1">
                    <a:alpha val="59000"/>
                  </a:schemeClr>
                </a:solidFill>
              </a:rPr>
              <a:t>2026 </a:t>
            </a:r>
            <a:r>
              <a:rPr lang="en-US" altLang="ko-KR" sz="3600" dirty="0" err="1">
                <a:solidFill>
                  <a:schemeClr val="bg1">
                    <a:alpha val="59000"/>
                  </a:schemeClr>
                </a:solidFill>
              </a:rPr>
              <a:t>BioPhys</a:t>
            </a:r>
            <a:r>
              <a:rPr lang="ko-KR" altLang="en-US" sz="3600" dirty="0">
                <a:solidFill>
                  <a:schemeClr val="bg1">
                    <a:alpha val="59000"/>
                  </a:schemeClr>
                </a:solidFill>
              </a:rPr>
              <a:t> </a:t>
            </a:r>
            <a:r>
              <a:rPr lang="en-US" altLang="ko-KR" sz="3600" dirty="0">
                <a:solidFill>
                  <a:schemeClr val="bg1">
                    <a:alpha val="59000"/>
                  </a:schemeClr>
                </a:solidFill>
              </a:rPr>
              <a:t>summer</a:t>
            </a:r>
            <a:r>
              <a:rPr lang="ko-KR" altLang="en-US" sz="3600" dirty="0">
                <a:solidFill>
                  <a:schemeClr val="bg1">
                    <a:alpha val="59000"/>
                  </a:schemeClr>
                </a:solidFill>
              </a:rPr>
              <a:t> </a:t>
            </a:r>
            <a:r>
              <a:rPr lang="en-US" altLang="ko-KR" sz="3600" dirty="0">
                <a:solidFill>
                  <a:schemeClr val="bg1">
                    <a:alpha val="59000"/>
                  </a:schemeClr>
                </a:solidFill>
              </a:rPr>
              <a:t>school</a:t>
            </a:r>
          </a:p>
          <a:p>
            <a:endParaRPr lang="en-US" altLang="ko-KR" sz="3600" dirty="0">
              <a:solidFill>
                <a:schemeClr val="bg1">
                  <a:alpha val="59000"/>
                </a:schemeClr>
              </a:solidFill>
            </a:endParaRPr>
          </a:p>
          <a:p>
            <a:r>
              <a:rPr lang="en-US" altLang="ko-KR" sz="3600" dirty="0"/>
              <a:t>Markov chain 101</a:t>
            </a:r>
          </a:p>
        </p:txBody>
      </p:sp>
    </p:spTree>
    <p:extLst>
      <p:ext uri="{BB962C8B-B14F-4D97-AF65-F5344CB8AC3E}">
        <p14:creationId xmlns:p14="http://schemas.microsoft.com/office/powerpoint/2010/main" val="297781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93DC-7748-9E68-3676-22AC28BE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463717B-6F84-2CE0-7598-90357071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Stochastic processes in living cells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5424D-7D3B-754B-53E4-1D6F01981C7B}"/>
              </a:ext>
            </a:extLst>
          </p:cNvPr>
          <p:cNvSpPr txBox="1">
            <a:spLocks/>
          </p:cNvSpPr>
          <p:nvPr/>
        </p:nvSpPr>
        <p:spPr>
          <a:xfrm>
            <a:off x="6602556" y="4542843"/>
            <a:ext cx="1553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Markov chain.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9F31F-53C3-84FB-E8A1-431C65C4BBE9}"/>
              </a:ext>
            </a:extLst>
          </p:cNvPr>
          <p:cNvSpPr txBox="1"/>
          <p:nvPr/>
        </p:nvSpPr>
        <p:spPr>
          <a:xfrm>
            <a:off x="5927252" y="4017658"/>
            <a:ext cx="2712602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How to model such system?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E5577E7-8036-3E5A-4273-6715339B9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59" y="1605388"/>
            <a:ext cx="3136351" cy="12683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97FC28D-2D8A-B5A1-1F73-BD2E93F72851}"/>
              </a:ext>
            </a:extLst>
          </p:cNvPr>
          <p:cNvSpPr txBox="1"/>
          <p:nvPr/>
        </p:nvSpPr>
        <p:spPr>
          <a:xfrm>
            <a:off x="5665403" y="2252017"/>
            <a:ext cx="3329758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Molecules (states) are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memoryless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867969-C862-ABD3-1B58-B723F8D183F7}"/>
              </a:ext>
            </a:extLst>
          </p:cNvPr>
          <p:cNvSpPr txBox="1"/>
          <p:nvPr/>
        </p:nvSpPr>
        <p:spPr>
          <a:xfrm>
            <a:off x="5665403" y="1772816"/>
            <a:ext cx="2024913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States are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discrete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4128B-BC71-1F67-F3CF-0FFF9539CF9E}"/>
              </a:ext>
            </a:extLst>
          </p:cNvPr>
          <p:cNvSpPr txBox="1"/>
          <p:nvPr/>
        </p:nvSpPr>
        <p:spPr>
          <a:xfrm>
            <a:off x="467544" y="4867041"/>
            <a:ext cx="5280613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Biological process occurs with </a:t>
            </a:r>
            <a:r>
              <a:rPr lang="en-US" altLang="ko-KR" sz="1400" u="sng" dirty="0">
                <a:latin typeface="Arial" panose="020B0604020202020204" pitchFamily="34" charset="0"/>
                <a:cs typeface="Arial" panose="020B0604020202020204" pitchFamily="34" charset="0"/>
              </a:rPr>
              <a:t>finite number of events/individual;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D53898-ADEE-DBC7-9A39-CEC478ABF563}"/>
              </a:ext>
            </a:extLst>
          </p:cNvPr>
          <p:cNvSpPr txBox="1"/>
          <p:nvPr/>
        </p:nvSpPr>
        <p:spPr>
          <a:xfrm>
            <a:off x="5665403" y="1344314"/>
            <a:ext cx="3347391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transition to another states</a:t>
            </a:r>
          </a:p>
        </p:txBody>
      </p:sp>
      <p:pic>
        <p:nvPicPr>
          <p:cNvPr id="24" name="그림 23" descr="Capture.PNG pp2">
            <a:extLst>
              <a:ext uri="{FF2B5EF4-FFF2-40B4-BE49-F238E27FC236}">
                <a16:creationId xmlns:a16="http://schemas.microsoft.com/office/drawing/2014/main" id="{DDEF4EDE-6EA9-C7F0-00C8-181646F9C6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987"/>
          <a:stretch>
            <a:fillRect/>
          </a:stretch>
        </p:blipFill>
        <p:spPr>
          <a:xfrm>
            <a:off x="1660662" y="2916265"/>
            <a:ext cx="3099748" cy="112123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67B308B-AC32-438F-0B98-B5D26F4A3A7B}"/>
              </a:ext>
            </a:extLst>
          </p:cNvPr>
          <p:cNvSpPr txBox="1"/>
          <p:nvPr/>
        </p:nvSpPr>
        <p:spPr>
          <a:xfrm>
            <a:off x="225111" y="3246991"/>
            <a:ext cx="1277914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(macro-scale)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2B1696-499E-0030-C187-260C7B038CF0}"/>
              </a:ext>
            </a:extLst>
          </p:cNvPr>
          <p:cNvSpPr txBox="1"/>
          <p:nvPr/>
        </p:nvSpPr>
        <p:spPr>
          <a:xfrm>
            <a:off x="218930" y="2173096"/>
            <a:ext cx="1218603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(micro-scale)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8A43CF-25DC-25EC-2819-A609E79A6242}"/>
              </a:ext>
            </a:extLst>
          </p:cNvPr>
          <p:cNvSpPr txBox="1"/>
          <p:nvPr/>
        </p:nvSpPr>
        <p:spPr>
          <a:xfrm>
            <a:off x="116968" y="4301544"/>
            <a:ext cx="4232249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Fluctuation exists in biological processes: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173A1D-C44B-9B68-16B0-B0F94EECC329}"/>
              </a:ext>
            </a:extLst>
          </p:cNvPr>
          <p:cNvSpPr txBox="1"/>
          <p:nvPr/>
        </p:nvSpPr>
        <p:spPr>
          <a:xfrm>
            <a:off x="467544" y="5280839"/>
            <a:ext cx="4254691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And the events includes many </a:t>
            </a:r>
            <a:r>
              <a:rPr lang="en-US" altLang="ko-KR" sz="1400" u="sng" dirty="0">
                <a:latin typeface="Arial" panose="020B0604020202020204" pitchFamily="34" charset="0"/>
                <a:cs typeface="Arial" panose="020B0604020202020204" pitchFamily="34" charset="0"/>
              </a:rPr>
              <a:t>probabilistic factors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06BAE9-0515-3345-A55A-86C6E6EC3A2F}"/>
              </a:ext>
            </a:extLst>
          </p:cNvPr>
          <p:cNvSpPr txBox="1"/>
          <p:nvPr/>
        </p:nvSpPr>
        <p:spPr>
          <a:xfrm>
            <a:off x="467544" y="5712362"/>
            <a:ext cx="4766048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Therefore, modeling such system requires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‘stochasticity’</a:t>
            </a:r>
          </a:p>
        </p:txBody>
      </p:sp>
      <p:pic>
        <p:nvPicPr>
          <p:cNvPr id="6" name="그림 5" descr="Fun with Markov Chains: A Tutorial Using NetLogo | simulatingcomplexity">
            <a:extLst>
              <a:ext uri="{FF2B5EF4-FFF2-40B4-BE49-F238E27FC236}">
                <a16:creationId xmlns:a16="http://schemas.microsoft.com/office/drawing/2014/main" id="{1E4A1CF0-D284-9E89-33EA-4931B8EDF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138" y="2806721"/>
            <a:ext cx="2144830" cy="102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2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7" grpId="0"/>
      <p:bldP spid="19" grpId="0"/>
      <p:bldP spid="21" grpId="0"/>
      <p:bldP spid="23" grpId="0"/>
      <p:bldP spid="30" grpId="0"/>
      <p:bldP spid="32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7845-4FF0-6BB0-6F94-5BB0E46A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C82A3AA-A0A3-2602-8BD2-995A5848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D55CF-1EDB-7AA8-6226-FD40F9485D77}"/>
              </a:ext>
            </a:extLst>
          </p:cNvPr>
          <p:cNvSpPr txBox="1">
            <a:spLocks/>
          </p:cNvSpPr>
          <p:nvPr/>
        </p:nvSpPr>
        <p:spPr>
          <a:xfrm>
            <a:off x="263673" y="1804754"/>
            <a:ext cx="4272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Discrete-time Markov chain (DTMC)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3C6B5-A6DA-7E44-0564-6714A89FEEFE}"/>
              </a:ext>
            </a:extLst>
          </p:cNvPr>
          <p:cNvSpPr txBox="1">
            <a:spLocks/>
          </p:cNvSpPr>
          <p:nvPr/>
        </p:nvSpPr>
        <p:spPr>
          <a:xfrm>
            <a:off x="179512" y="4208544"/>
            <a:ext cx="4629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Continuous-time Markov chain (CTMC)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4910A4A-3D2C-9C55-9885-9F4C941C0040}"/>
              </a:ext>
            </a:extLst>
          </p:cNvPr>
          <p:cNvGrpSpPr/>
          <p:nvPr/>
        </p:nvGrpSpPr>
        <p:grpSpPr>
          <a:xfrm>
            <a:off x="4925851" y="1502525"/>
            <a:ext cx="4138670" cy="2051184"/>
            <a:chOff x="4925851" y="1502525"/>
            <a:chExt cx="4138670" cy="205118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06B8AC-ABEF-A372-73AC-8E1F9D1C182A}"/>
                </a:ext>
              </a:extLst>
            </p:cNvPr>
            <p:cNvSpPr txBox="1">
              <a:spLocks/>
            </p:cNvSpPr>
            <p:nvPr/>
          </p:nvSpPr>
          <p:spPr>
            <a:xfrm>
              <a:off x="5120853" y="1502525"/>
              <a:ext cx="248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dirty="0"/>
                <a:t>Definition</a:t>
              </a:r>
              <a:r>
                <a:rPr lang="ko-KR" altLang="en-US" dirty="0"/>
                <a:t> </a:t>
              </a:r>
              <a:r>
                <a:rPr lang="en-US" altLang="ko-KR" dirty="0"/>
                <a:t>of</a:t>
              </a:r>
              <a:r>
                <a:rPr lang="ko-KR" altLang="en-US" dirty="0"/>
                <a:t> </a:t>
              </a:r>
              <a:r>
                <a:rPr lang="en-US" altLang="ko-KR" dirty="0"/>
                <a:t>DTMC</a:t>
              </a:r>
              <a:endParaRPr lang="en-US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1207DE-BB3D-21F5-5406-278576752DBF}"/>
                </a:ext>
              </a:extLst>
            </p:cNvPr>
            <p:cNvSpPr txBox="1">
              <a:spLocks/>
            </p:cNvSpPr>
            <p:nvPr/>
          </p:nvSpPr>
          <p:spPr>
            <a:xfrm>
              <a:off x="5148064" y="2215211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dirty="0"/>
                <a:t>Simulation</a:t>
              </a:r>
              <a:endParaRPr lang="en-US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BA18C8-8941-DB2F-F236-35F281238E26}"/>
                </a:ext>
              </a:extLst>
            </p:cNvPr>
            <p:cNvSpPr txBox="1">
              <a:spLocks/>
            </p:cNvSpPr>
            <p:nvPr/>
          </p:nvSpPr>
          <p:spPr>
            <a:xfrm>
              <a:off x="5148064" y="2907378"/>
              <a:ext cx="39164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dirty="0"/>
                <a:t>Example – </a:t>
              </a:r>
              <a:br>
                <a:rPr lang="en-US" altLang="ko-KR" dirty="0"/>
              </a:br>
              <a:r>
                <a:rPr lang="en-US" altLang="ko-KR" dirty="0"/>
                <a:t>Evolutionary population genetics </a:t>
              </a:r>
              <a:endParaRPr lang="en-US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왼쪽 대괄호 17">
              <a:extLst>
                <a:ext uri="{FF2B5EF4-FFF2-40B4-BE49-F238E27FC236}">
                  <a16:creationId xmlns:a16="http://schemas.microsoft.com/office/drawing/2014/main" id="{B8A4EFFD-2D3F-C2EB-28D3-78E418B70E4E}"/>
                </a:ext>
              </a:extLst>
            </p:cNvPr>
            <p:cNvSpPr/>
            <p:nvPr/>
          </p:nvSpPr>
          <p:spPr>
            <a:xfrm>
              <a:off x="4925851" y="1683242"/>
              <a:ext cx="195002" cy="1440160"/>
            </a:xfrm>
            <a:prstGeom prst="leftBracket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5B95DA1-702A-319F-E946-592460F82963}"/>
              </a:ext>
            </a:extLst>
          </p:cNvPr>
          <p:cNvGrpSpPr/>
          <p:nvPr/>
        </p:nvGrpSpPr>
        <p:grpSpPr>
          <a:xfrm>
            <a:off x="4953062" y="4039267"/>
            <a:ext cx="3444610" cy="2352934"/>
            <a:chOff x="4953062" y="4039267"/>
            <a:chExt cx="3444610" cy="235293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5207FE-D3DE-50C9-6E14-4FC9FFE86FF4}"/>
                </a:ext>
              </a:extLst>
            </p:cNvPr>
            <p:cNvSpPr txBox="1">
              <a:spLocks/>
            </p:cNvSpPr>
            <p:nvPr/>
          </p:nvSpPr>
          <p:spPr>
            <a:xfrm>
              <a:off x="5148064" y="4039267"/>
              <a:ext cx="2480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dirty="0"/>
                <a:t>Definition</a:t>
              </a:r>
              <a:r>
                <a:rPr lang="ko-KR" altLang="en-US" dirty="0"/>
                <a:t> </a:t>
              </a:r>
              <a:r>
                <a:rPr lang="en-US" altLang="ko-KR" dirty="0"/>
                <a:t>of</a:t>
              </a:r>
              <a:r>
                <a:rPr lang="ko-KR" altLang="en-US" dirty="0"/>
                <a:t> </a:t>
              </a:r>
              <a:r>
                <a:rPr lang="en-US" altLang="ko-KR" dirty="0"/>
                <a:t>CTMC</a:t>
              </a:r>
              <a:endParaRPr lang="en-US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B08003-1855-880B-59AB-644C91D66969}"/>
                </a:ext>
              </a:extLst>
            </p:cNvPr>
            <p:cNvSpPr txBox="1">
              <a:spLocks/>
            </p:cNvSpPr>
            <p:nvPr/>
          </p:nvSpPr>
          <p:spPr>
            <a:xfrm>
              <a:off x="5175275" y="4751953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dirty="0"/>
                <a:t>Simulation</a:t>
              </a:r>
              <a:endParaRPr lang="en-US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1418E9-8992-0BCA-8033-443B438C3BB6}"/>
                </a:ext>
              </a:extLst>
            </p:cNvPr>
            <p:cNvSpPr txBox="1">
              <a:spLocks/>
            </p:cNvSpPr>
            <p:nvPr/>
          </p:nvSpPr>
          <p:spPr>
            <a:xfrm>
              <a:off x="5148064" y="5468871"/>
              <a:ext cx="324960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altLang="ko-KR" dirty="0"/>
                <a:t>Example – </a:t>
              </a:r>
              <a:br>
                <a:rPr lang="en-US" altLang="ko-KR" dirty="0"/>
              </a:br>
              <a:r>
                <a:rPr lang="en-US" altLang="ko-KR" dirty="0"/>
                <a:t>Birth and death model / </a:t>
              </a:r>
              <a:br>
                <a:rPr lang="en-US" altLang="ko-KR" dirty="0"/>
              </a:br>
              <a:r>
                <a:rPr lang="en-US" altLang="ko-KR" dirty="0"/>
                <a:t>Chemical reaction network</a:t>
              </a:r>
              <a:endParaRPr lang="en-US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왼쪽 대괄호 19">
              <a:extLst>
                <a:ext uri="{FF2B5EF4-FFF2-40B4-BE49-F238E27FC236}">
                  <a16:creationId xmlns:a16="http://schemas.microsoft.com/office/drawing/2014/main" id="{6F262C96-0162-5836-97D4-F42E664818D9}"/>
                </a:ext>
              </a:extLst>
            </p:cNvPr>
            <p:cNvSpPr/>
            <p:nvPr/>
          </p:nvSpPr>
          <p:spPr>
            <a:xfrm>
              <a:off x="4953062" y="4251861"/>
              <a:ext cx="195002" cy="1440160"/>
            </a:xfrm>
            <a:prstGeom prst="leftBracket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94643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FC50-E8D7-0A7B-1814-F56F3DE8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4259D2A-A2B6-7737-2DE3-F32747D5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Discrete-time Markov chain (DTMC)</a:t>
            </a:r>
            <a:endParaRPr lang="ko-KR" altLang="en-US" sz="2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44DBB7-F9E2-6CBE-D98C-4CF2F0150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924192"/>
            <a:ext cx="3168352" cy="211223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A0B025-B886-F9AE-541E-B200E76D15A9}"/>
                  </a:ext>
                </a:extLst>
              </p:cNvPr>
              <p:cNvSpPr txBox="1"/>
              <p:nvPr/>
            </p:nvSpPr>
            <p:spPr>
              <a:xfrm>
                <a:off x="372691" y="1263292"/>
                <a:ext cx="5186035" cy="379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DTMC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stochastic process of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discrete state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A0B025-B886-F9AE-541E-B200E76D1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91" y="1263292"/>
                <a:ext cx="5186035" cy="379078"/>
              </a:xfrm>
              <a:prstGeom prst="rect">
                <a:avLst/>
              </a:prstGeom>
              <a:blipFill>
                <a:blip r:embed="rId4"/>
                <a:stretch>
                  <a:fillRect l="-470" b="-20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62A092-78D1-8059-970C-609FA11E6A31}"/>
                  </a:ext>
                </a:extLst>
              </p:cNvPr>
              <p:cNvSpPr txBox="1"/>
              <p:nvPr/>
            </p:nvSpPr>
            <p:spPr>
              <a:xfrm>
                <a:off x="3647980" y="2019670"/>
                <a:ext cx="5349413" cy="69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 transition 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occurs from one state to another,</a:t>
                </a:r>
                <a:b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every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altLang="ko-KR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time step 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…</m:t>
                    </m:r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62A092-78D1-8059-970C-609FA11E6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980" y="2019670"/>
                <a:ext cx="5349413" cy="699166"/>
              </a:xfrm>
              <a:prstGeom prst="rect">
                <a:avLst/>
              </a:prstGeom>
              <a:blipFill>
                <a:blip r:embed="rId5"/>
                <a:stretch>
                  <a:fillRect l="-456" b="-10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EE7E424-63D0-0282-BD74-1BCF724AD194}"/>
              </a:ext>
            </a:extLst>
          </p:cNvPr>
          <p:cNvSpPr txBox="1"/>
          <p:nvPr/>
        </p:nvSpPr>
        <p:spPr>
          <a:xfrm>
            <a:off x="3636917" y="3009350"/>
            <a:ext cx="4126835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Transition depends only on current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6DD59E-5278-0CB1-10F5-132EDA6488DE}"/>
              </a:ext>
            </a:extLst>
          </p:cNvPr>
          <p:cNvSpPr txBox="1"/>
          <p:nvPr/>
        </p:nvSpPr>
        <p:spPr>
          <a:xfrm>
            <a:off x="3886550" y="3426714"/>
            <a:ext cx="4499950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(“Markov property”: Molecules are memoryless)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05A5D-5080-DA84-4A7A-B36419A3314D}"/>
              </a:ext>
            </a:extLst>
          </p:cNvPr>
          <p:cNvSpPr txBox="1"/>
          <p:nvPr/>
        </p:nvSpPr>
        <p:spPr>
          <a:xfrm>
            <a:off x="712397" y="7288128"/>
            <a:ext cx="3284874" cy="623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Population dynamics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(generation)</a:t>
            </a:r>
            <a:b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Genetics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(generation)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55840-A21D-5DFC-474E-746E77120D46}"/>
              </a:ext>
            </a:extLst>
          </p:cNvPr>
          <p:cNvSpPr txBox="1"/>
          <p:nvPr/>
        </p:nvSpPr>
        <p:spPr>
          <a:xfrm>
            <a:off x="707475" y="8398532"/>
            <a:ext cx="3179075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Protein folding, gene regulation,…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4E92AD-C821-57D5-6DA7-9D018074EBCC}"/>
              </a:ext>
            </a:extLst>
          </p:cNvPr>
          <p:cNvSpPr txBox="1"/>
          <p:nvPr/>
        </p:nvSpPr>
        <p:spPr>
          <a:xfrm>
            <a:off x="707475" y="7966672"/>
            <a:ext cx="1627369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Random walk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5BD068-9E4A-5898-ACE9-2A7A8804FB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5900"/>
          <a:stretch>
            <a:fillRect/>
          </a:stretch>
        </p:blipFill>
        <p:spPr>
          <a:xfrm>
            <a:off x="109407" y="1925418"/>
            <a:ext cx="3341238" cy="2152446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023CF8AE-5AC6-01C7-B8A6-E3D3C277ED7A}"/>
              </a:ext>
            </a:extLst>
          </p:cNvPr>
          <p:cNvGrpSpPr/>
          <p:nvPr/>
        </p:nvGrpSpPr>
        <p:grpSpPr>
          <a:xfrm>
            <a:off x="449635" y="4460395"/>
            <a:ext cx="8580966" cy="1942677"/>
            <a:chOff x="449635" y="4460395"/>
            <a:chExt cx="8580966" cy="194267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DA3DA3-31EE-4437-BAAD-4A26660690F7}"/>
                </a:ext>
              </a:extLst>
            </p:cNvPr>
            <p:cNvSpPr txBox="1"/>
            <p:nvPr/>
          </p:nvSpPr>
          <p:spPr>
            <a:xfrm>
              <a:off x="449635" y="4460395"/>
              <a:ext cx="5508239" cy="379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Use for 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discrete state, discrete-time observation (exp): </a:t>
              </a:r>
              <a:endPara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4EA1CAF-50D3-172A-1727-14C629DC2597}"/>
                </a:ext>
              </a:extLst>
            </p:cNvPr>
            <p:cNvGrpSpPr/>
            <p:nvPr/>
          </p:nvGrpSpPr>
          <p:grpSpPr>
            <a:xfrm>
              <a:off x="5914042" y="4835469"/>
              <a:ext cx="3116559" cy="1567603"/>
              <a:chOff x="5101953" y="4835469"/>
              <a:chExt cx="3116559" cy="1567603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34900032-99DE-3C2F-41EC-287E39693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36097" y="5097981"/>
                <a:ext cx="2448272" cy="1305091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A32790-845A-69B0-ADDC-E1C6D937B7F7}"/>
                  </a:ext>
                </a:extLst>
              </p:cNvPr>
              <p:cNvSpPr txBox="1"/>
              <p:nvPr/>
            </p:nvSpPr>
            <p:spPr>
              <a:xfrm>
                <a:off x="5101953" y="4835469"/>
                <a:ext cx="3116559" cy="307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State inference (hidden Markov model)</a:t>
                </a:r>
              </a:p>
            </p:txBody>
          </p:sp>
        </p:grp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38BDF8E-A91F-557F-C1F2-C90C0E9D2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50986" y="5290370"/>
              <a:ext cx="1584176" cy="109342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E68679B-7205-6EE4-9E01-59F074773B9C}"/>
                </a:ext>
              </a:extLst>
            </p:cNvPr>
            <p:cNvSpPr txBox="1"/>
            <p:nvPr/>
          </p:nvSpPr>
          <p:spPr>
            <a:xfrm>
              <a:off x="3350553" y="4845107"/>
              <a:ext cx="1794081" cy="307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ü"/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Simulate patterning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69B20F4-76AD-AAE4-E800-B282FF724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59193" y="5387326"/>
              <a:ext cx="1391710" cy="69585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224992-F6E5-8046-EF08-0A58DF4B51FB}"/>
                </a:ext>
              </a:extLst>
            </p:cNvPr>
            <p:cNvSpPr txBox="1"/>
            <p:nvPr/>
          </p:nvSpPr>
          <p:spPr>
            <a:xfrm>
              <a:off x="608714" y="4864583"/>
              <a:ext cx="1649811" cy="307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ü"/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Protein dynamics</a:t>
              </a: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6CF478ED-6CA4-D3EA-032A-AE1CB368E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9273" y="5142925"/>
              <a:ext cx="1584177" cy="1236085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48BF60D-4A23-2FDC-3E34-66606A754F6C}"/>
              </a:ext>
            </a:extLst>
          </p:cNvPr>
          <p:cNvSpPr txBox="1"/>
          <p:nvPr/>
        </p:nvSpPr>
        <p:spPr>
          <a:xfrm>
            <a:off x="5018848" y="3373439"/>
            <a:ext cx="3677610" cy="101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b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Learn definition of DTMC </a:t>
            </a:r>
            <a:b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Run simulation scheme of DTMC</a:t>
            </a:r>
          </a:p>
        </p:txBody>
      </p:sp>
    </p:spTree>
    <p:extLst>
      <p:ext uri="{BB962C8B-B14F-4D97-AF65-F5344CB8AC3E}">
        <p14:creationId xmlns:p14="http://schemas.microsoft.com/office/powerpoint/2010/main" val="187464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9B0ED-CB8B-740A-9CE9-618C7868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FD0D8A5-EE71-FF41-F6D6-76EE8929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DTMC</a:t>
            </a:r>
            <a:endParaRPr lang="ko-KR" alt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FAF77-C827-33B9-5393-50E38EE99BD7}"/>
              </a:ext>
            </a:extLst>
          </p:cNvPr>
          <p:cNvSpPr txBox="1">
            <a:spLocks/>
          </p:cNvSpPr>
          <p:nvPr/>
        </p:nvSpPr>
        <p:spPr>
          <a:xfrm>
            <a:off x="272606" y="2555226"/>
            <a:ext cx="3260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Define a DTMC ‘uniquely’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5B966-3334-5DD5-7118-01E41C81A60F}"/>
              </a:ext>
            </a:extLst>
          </p:cNvPr>
          <p:cNvSpPr txBox="1"/>
          <p:nvPr/>
        </p:nvSpPr>
        <p:spPr>
          <a:xfrm>
            <a:off x="4913087" y="3441844"/>
            <a:ext cx="173637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Where to jump?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1F6AE-E1EA-0C11-3E5B-17EE42DA8B45}"/>
              </a:ext>
            </a:extLst>
          </p:cNvPr>
          <p:cNvSpPr txBox="1"/>
          <p:nvPr/>
        </p:nvSpPr>
        <p:spPr>
          <a:xfrm>
            <a:off x="394943" y="3091471"/>
            <a:ext cx="1959191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(Start from state 1,)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347410-22F9-75ED-E15C-5C67F9AB40A6}"/>
                  </a:ext>
                </a:extLst>
              </p:cNvPr>
              <p:cNvSpPr txBox="1"/>
              <p:nvPr/>
            </p:nvSpPr>
            <p:spPr>
              <a:xfrm>
                <a:off x="5193581" y="4072681"/>
                <a:ext cx="2784737" cy="623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Next state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sampled from</a:t>
                </a:r>
                <a:b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discrete distribution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347410-22F9-75ED-E15C-5C67F9AB4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581" y="4072681"/>
                <a:ext cx="2784737" cy="623312"/>
              </a:xfrm>
              <a:prstGeom prst="rect">
                <a:avLst/>
              </a:prstGeom>
              <a:blipFill>
                <a:blip r:embed="rId9"/>
                <a:stretch>
                  <a:fillRect l="-438" b="-107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7D9749-0B27-17DF-8C64-3D774226802A}"/>
                  </a:ext>
                </a:extLst>
              </p:cNvPr>
              <p:cNvSpPr txBox="1"/>
              <p:nvPr/>
            </p:nvSpPr>
            <p:spPr>
              <a:xfrm>
                <a:off x="5449805" y="5349592"/>
                <a:ext cx="3669787" cy="623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dirty="0"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𝑥𝑥</m:t>
                        </m:r>
                        <m:r>
                          <a:rPr lang="en-US" altLang="ko-KR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‘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transition probability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’ </a:t>
                </a:r>
                <a:b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from state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B7D9749-0B27-17DF-8C64-3D7742268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805" y="5349592"/>
                <a:ext cx="3669787" cy="623312"/>
              </a:xfrm>
              <a:prstGeom prst="rect">
                <a:avLst/>
              </a:prstGeom>
              <a:blipFill>
                <a:blip r:embed="rId10"/>
                <a:stretch>
                  <a:fillRect l="-498" b="-9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969C9D07-BEF5-ECDF-2D7A-DF3846B556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686" y="4941673"/>
            <a:ext cx="1990869" cy="18549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B99BE05-CD01-2384-1333-3D0ADB0E683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10327"/>
          <a:stretch>
            <a:fillRect/>
          </a:stretch>
        </p:blipFill>
        <p:spPr>
          <a:xfrm>
            <a:off x="192351" y="3644103"/>
            <a:ext cx="4478446" cy="2682256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23EE4449-16C0-D2D5-0A18-04B9B72AB66B}"/>
              </a:ext>
            </a:extLst>
          </p:cNvPr>
          <p:cNvGrpSpPr/>
          <p:nvPr/>
        </p:nvGrpSpPr>
        <p:grpSpPr>
          <a:xfrm>
            <a:off x="2354134" y="4164551"/>
            <a:ext cx="1497068" cy="1473041"/>
            <a:chOff x="2579072" y="3253004"/>
            <a:chExt cx="1497068" cy="147304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DF3EC10-C782-C996-A51E-0472396AF84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9499" y="3253004"/>
              <a:ext cx="294858" cy="144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3DDD4CA-9787-D221-5D86-08B8B963032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6949" y="4582045"/>
              <a:ext cx="301714" cy="1440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B79BE7C-82C9-9C54-F2EC-466520336C3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912" y="4438045"/>
              <a:ext cx="296228" cy="14400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8C63747-CB8F-0E13-9128-DC0BD339EAB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9072" y="3263092"/>
              <a:ext cx="294858" cy="1440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E2D98CD-BD9D-1520-C0F8-A2F4DE8859F2}"/>
                  </a:ext>
                </a:extLst>
              </p:cNvPr>
              <p:cNvSpPr txBox="1"/>
              <p:nvPr/>
            </p:nvSpPr>
            <p:spPr>
              <a:xfrm>
                <a:off x="644330" y="1427083"/>
                <a:ext cx="6404125" cy="379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Stochastic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discrete time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&amp; finite states) is DTMC if:</a:t>
                </a:r>
                <a:endPara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E2D98CD-BD9D-1520-C0F8-A2F4DE885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30" y="1427083"/>
                <a:ext cx="6404125" cy="379078"/>
              </a:xfrm>
              <a:prstGeom prst="rect">
                <a:avLst/>
              </a:prstGeom>
              <a:blipFill>
                <a:blip r:embed="rId17"/>
                <a:stretch>
                  <a:fillRect l="-381" b="-20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FA1726DB-A9A7-7D4E-F064-C565D3895A41}"/>
              </a:ext>
            </a:extLst>
          </p:cNvPr>
          <p:cNvSpPr txBox="1">
            <a:spLocks/>
          </p:cNvSpPr>
          <p:nvPr/>
        </p:nvSpPr>
        <p:spPr>
          <a:xfrm>
            <a:off x="212282" y="1010698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448317-696A-1BFA-90EA-68C7BA09A6B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58" y="1947630"/>
            <a:ext cx="6635884" cy="18329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731506E-BB88-680C-98FD-46C9F5D6717C}"/>
              </a:ext>
            </a:extLst>
          </p:cNvPr>
          <p:cNvSpPr txBox="1"/>
          <p:nvPr/>
        </p:nvSpPr>
        <p:spPr>
          <a:xfrm>
            <a:off x="7486285" y="1528960"/>
            <a:ext cx="1396536" cy="307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“Markov property”</a:t>
            </a:r>
          </a:p>
        </p:txBody>
      </p:sp>
    </p:spTree>
    <p:extLst>
      <p:ext uri="{BB962C8B-B14F-4D97-AF65-F5344CB8AC3E}">
        <p14:creationId xmlns:p14="http://schemas.microsoft.com/office/powerpoint/2010/main" val="184510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6" grpId="0"/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F825-0728-50B2-226D-72DF9878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CAE5C63-B1EC-0047-842F-7623A660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DTMC</a:t>
            </a:r>
            <a:endParaRPr lang="ko-KR" alt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1CA52-B43D-9687-4238-1EEBC2758A4B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3260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Define a DTMC ‘uniquely’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0AC289-D191-D0BD-8CD1-BF1125BEB71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0327"/>
          <a:stretch>
            <a:fillRect/>
          </a:stretch>
        </p:blipFill>
        <p:spPr>
          <a:xfrm>
            <a:off x="120936" y="2704526"/>
            <a:ext cx="4478446" cy="2682256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94CB68CB-4C3E-45CC-A044-AEDFA2983F2B}"/>
              </a:ext>
            </a:extLst>
          </p:cNvPr>
          <p:cNvGrpSpPr/>
          <p:nvPr/>
        </p:nvGrpSpPr>
        <p:grpSpPr>
          <a:xfrm>
            <a:off x="2282719" y="3224974"/>
            <a:ext cx="1497068" cy="1473041"/>
            <a:chOff x="2579072" y="3253004"/>
            <a:chExt cx="1497068" cy="147304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43B9C0F-3BD8-FEB0-4808-7BEDFC17572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9499" y="3253004"/>
              <a:ext cx="294858" cy="144000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D48A9BF-7047-C4AA-0395-9B2758558C6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6949" y="4582045"/>
              <a:ext cx="301714" cy="1440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3B37FD0-D1C0-2B6F-ECEA-422B29C5E0C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912" y="4438045"/>
              <a:ext cx="296228" cy="144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7CF33A2-A05A-AE67-F9C6-CD423DFEEED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9072" y="3263092"/>
              <a:ext cx="294858" cy="1440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4BE78A-C79B-FD85-71B2-AF209AA8FADE}"/>
              </a:ext>
            </a:extLst>
          </p:cNvPr>
          <p:cNvSpPr txBox="1"/>
          <p:nvPr/>
        </p:nvSpPr>
        <p:spPr>
          <a:xfrm>
            <a:off x="4716016" y="1772816"/>
            <a:ext cx="173637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Where to jump?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E381B-5447-B5F5-A382-28CF0DCD6E04}"/>
              </a:ext>
            </a:extLst>
          </p:cNvPr>
          <p:cNvSpPr txBox="1"/>
          <p:nvPr/>
        </p:nvSpPr>
        <p:spPr>
          <a:xfrm>
            <a:off x="323528" y="2151894"/>
            <a:ext cx="1959191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(Start from state 1,)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0F12E7-E195-946F-B82E-CAA5F01D2A47}"/>
                  </a:ext>
                </a:extLst>
              </p:cNvPr>
              <p:cNvSpPr txBox="1"/>
              <p:nvPr/>
            </p:nvSpPr>
            <p:spPr>
              <a:xfrm>
                <a:off x="5143796" y="5386782"/>
                <a:ext cx="3077509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4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𝒙𝒙</m:t>
                        </m:r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fully characterizes DTMC!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0F12E7-E195-946F-B82E-CAA5F01D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796" y="5386782"/>
                <a:ext cx="3077509" cy="343235"/>
              </a:xfrm>
              <a:prstGeom prst="rect">
                <a:avLst/>
              </a:prstGeom>
              <a:blipFill>
                <a:blip r:embed="rId15"/>
                <a:stretch>
                  <a:fillRect l="-396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그룹 36">
            <a:extLst>
              <a:ext uri="{FF2B5EF4-FFF2-40B4-BE49-F238E27FC236}">
                <a16:creationId xmlns:a16="http://schemas.microsoft.com/office/drawing/2014/main" id="{7D70DE93-4804-34F4-F597-92BE8ECC55B7}"/>
              </a:ext>
            </a:extLst>
          </p:cNvPr>
          <p:cNvGrpSpPr/>
          <p:nvPr/>
        </p:nvGrpSpPr>
        <p:grpSpPr>
          <a:xfrm>
            <a:off x="4845507" y="2275913"/>
            <a:ext cx="3831602" cy="746639"/>
            <a:chOff x="4845507" y="2275913"/>
            <a:chExt cx="3831602" cy="74663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E5CF60-B764-FB26-0CC1-B34DEE11F1D9}"/>
                </a:ext>
              </a:extLst>
            </p:cNvPr>
            <p:cNvSpPr txBox="1"/>
            <p:nvPr/>
          </p:nvSpPr>
          <p:spPr>
            <a:xfrm>
              <a:off x="4940694" y="2275913"/>
              <a:ext cx="2467342" cy="343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b="0" dirty="0">
                  <a:cs typeface="Arial" panose="020B0604020202020204" pitchFamily="34" charset="0"/>
                </a:rPr>
                <a:t>Probability of ‘trajectory’</a:t>
              </a: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4BA298C6-D4B2-31FF-FFE1-D43F8EA50AE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5507" y="2839259"/>
              <a:ext cx="3831602" cy="183293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55C1AA-A19A-6F3E-45A3-63219BA3C242}"/>
              </a:ext>
            </a:extLst>
          </p:cNvPr>
          <p:cNvGrpSpPr/>
          <p:nvPr/>
        </p:nvGrpSpPr>
        <p:grpSpPr>
          <a:xfrm>
            <a:off x="4831238" y="3485416"/>
            <a:ext cx="4166858" cy="484872"/>
            <a:chOff x="4848447" y="3722678"/>
            <a:chExt cx="4166858" cy="48487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5FDEB60-9776-FB5C-3978-C702BFF56451}"/>
                </a:ext>
              </a:extLst>
            </p:cNvPr>
            <p:cNvSpPr txBox="1"/>
            <p:nvPr/>
          </p:nvSpPr>
          <p:spPr>
            <a:xfrm>
              <a:off x="7618769" y="3900094"/>
              <a:ext cx="1396536" cy="307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“Markov property”</a:t>
              </a: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D88F877-D3F4-20D5-214D-CF6D2A71D03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8447" y="3722678"/>
              <a:ext cx="3904042" cy="456586"/>
            </a:xfrm>
            <a:prstGeom prst="rect">
              <a:avLst/>
            </a:prstGeom>
          </p:spPr>
        </p:pic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079D546A-AE3C-09FD-1CB3-DDBB0E37AE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614" y="4362600"/>
            <a:ext cx="3845872" cy="52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5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19D8-9E95-5838-C72E-7599682E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D47363B-9288-28AD-AA98-6D9EAB596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Simulation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A5F91D-BF59-138C-D5C2-E47B5D7A5AB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35" y="2329602"/>
            <a:ext cx="6438234" cy="2515042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59F3D6A3-E8B3-7EC3-DD0F-B1ED609C12EA}"/>
              </a:ext>
            </a:extLst>
          </p:cNvPr>
          <p:cNvGrpSpPr/>
          <p:nvPr/>
        </p:nvGrpSpPr>
        <p:grpSpPr>
          <a:xfrm>
            <a:off x="6562851" y="2454341"/>
            <a:ext cx="2337889" cy="1596129"/>
            <a:chOff x="6549153" y="1878388"/>
            <a:chExt cx="2337889" cy="1596129"/>
          </a:xfrm>
        </p:grpSpPr>
        <p:pic>
          <p:nvPicPr>
            <p:cNvPr id="25" name="그림 24" descr="Dice Icon | Endless Icons">
              <a:extLst>
                <a:ext uri="{FF2B5EF4-FFF2-40B4-BE49-F238E27FC236}">
                  <a16:creationId xmlns:a16="http://schemas.microsoft.com/office/drawing/2014/main" id="{DA7C536B-16F7-5C45-E6A3-654F06E2E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30022" t="20264" r="25977" b="20876"/>
            <a:stretch>
              <a:fillRect/>
            </a:stretch>
          </p:blipFill>
          <p:spPr>
            <a:xfrm>
              <a:off x="7889486" y="1878388"/>
              <a:ext cx="936104" cy="936104"/>
            </a:xfrm>
            <a:prstGeom prst="rect">
              <a:avLst/>
            </a:prstGeom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A40C348-AF52-114F-5147-56B2570C360E}"/>
                </a:ext>
              </a:extLst>
            </p:cNvPr>
            <p:cNvGrpSpPr/>
            <p:nvPr/>
          </p:nvGrpSpPr>
          <p:grpSpPr>
            <a:xfrm>
              <a:off x="6549153" y="2892355"/>
              <a:ext cx="2337889" cy="582162"/>
              <a:chOff x="6410575" y="5209810"/>
              <a:chExt cx="2337889" cy="582162"/>
            </a:xfrm>
          </p:grpSpPr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CCD348B7-B4B6-2BE9-3475-D14750B981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518" y="5445224"/>
                <a:ext cx="2270946" cy="0"/>
              </a:xfrm>
              <a:prstGeom prst="straightConnector1">
                <a:avLst/>
              </a:prstGeom>
              <a:ln w="1270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39E9A068-146C-A633-8023-9D4F0923333E}"/>
                  </a:ext>
                </a:extLst>
              </p:cNvPr>
              <p:cNvCxnSpPr/>
              <p:nvPr/>
            </p:nvCxnSpPr>
            <p:spPr>
              <a:xfrm>
                <a:off x="6456440" y="5340304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95604E22-66D5-B983-2576-7F4377EA5B06}"/>
                  </a:ext>
                </a:extLst>
              </p:cNvPr>
              <p:cNvCxnSpPr/>
              <p:nvPr/>
            </p:nvCxnSpPr>
            <p:spPr>
              <a:xfrm>
                <a:off x="8491117" y="5340300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99E44EF2-B0CC-C37E-5EFF-82369EE1FA0B}"/>
                  </a:ext>
                </a:extLst>
              </p:cNvPr>
              <p:cNvCxnSpPr/>
              <p:nvPr/>
            </p:nvCxnSpPr>
            <p:spPr>
              <a:xfrm>
                <a:off x="6804248" y="5340304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D95F7A43-9F58-89CB-6218-EFCAF680428A}"/>
                  </a:ext>
                </a:extLst>
              </p:cNvPr>
              <p:cNvCxnSpPr/>
              <p:nvPr/>
            </p:nvCxnSpPr>
            <p:spPr>
              <a:xfrm>
                <a:off x="7460320" y="5340300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4F15EDA0-6EB9-AB27-F940-4DEAC83ABC35}"/>
                  </a:ext>
                </a:extLst>
              </p:cNvPr>
              <p:cNvCxnSpPr/>
              <p:nvPr/>
            </p:nvCxnSpPr>
            <p:spPr>
              <a:xfrm>
                <a:off x="8100392" y="5340300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46CAF448-7AE2-9AD3-98AE-D2D0431D1D8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00935" y="5214607"/>
                <a:ext cx="242026" cy="118197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B8559405-E891-EFF3-5AFD-EB052436CA1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8124" y="5209810"/>
                <a:ext cx="261672" cy="127790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49A81B9F-4ABE-9D2A-0A22-92996758D53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9466" y="5209810"/>
                <a:ext cx="262885" cy="127790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E8E4FB61-BCBA-9C27-47FE-10D47EF13C1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61877" y="5213982"/>
                <a:ext cx="267757" cy="127790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C7C2F75B-7F32-253F-E855-F6ED5FB0701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54942" y="5649858"/>
                <a:ext cx="72350" cy="142114"/>
              </a:xfrm>
              <a:prstGeom prst="rect">
                <a:avLst/>
              </a:prstGeom>
            </p:spPr>
          </p:pic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65E39B87-A935-0C92-32C9-7B8C9CCC479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0575" y="5642649"/>
                <a:ext cx="91728" cy="147282"/>
              </a:xfrm>
              <a:prstGeom prst="rect">
                <a:avLst/>
              </a:prstGeom>
            </p:spPr>
          </p:pic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D3619B-FE7A-B9C3-3FB9-F7F493A0EB3A}"/>
              </a:ext>
            </a:extLst>
          </p:cNvPr>
          <p:cNvSpPr txBox="1">
            <a:spLocks/>
          </p:cNvSpPr>
          <p:nvPr/>
        </p:nvSpPr>
        <p:spPr>
          <a:xfrm>
            <a:off x="251520" y="1345885"/>
            <a:ext cx="1737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Step-by-step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22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1861-0889-C5F7-22F5-32F861C5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37BEED4-F85F-0D52-A8CE-A7515B4B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Example – Evolutionary population genetics </a:t>
            </a:r>
            <a:endParaRPr lang="ko-KR" altLang="en-US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9D17E1-9E79-B484-00D3-A79DB04BB2C6}"/>
              </a:ext>
            </a:extLst>
          </p:cNvPr>
          <p:cNvSpPr txBox="1">
            <a:spLocks/>
          </p:cNvSpPr>
          <p:nvPr/>
        </p:nvSpPr>
        <p:spPr>
          <a:xfrm>
            <a:off x="251520" y="1196752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 descr="Population Genetics | Biology | Visionlearning">
            <a:extLst>
              <a:ext uri="{FF2B5EF4-FFF2-40B4-BE49-F238E27FC236}">
                <a16:creationId xmlns:a16="http://schemas.microsoft.com/office/drawing/2014/main" id="{261F439E-A1EF-DDB5-8F44-5447581976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410"/>
          <a:stretch>
            <a:fillRect/>
          </a:stretch>
        </p:blipFill>
        <p:spPr>
          <a:xfrm>
            <a:off x="511859" y="2355918"/>
            <a:ext cx="2231077" cy="3734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77D65E-0B07-0A91-740E-54C3B14615D9}"/>
              </a:ext>
            </a:extLst>
          </p:cNvPr>
          <p:cNvSpPr txBox="1"/>
          <p:nvPr/>
        </p:nvSpPr>
        <p:spPr>
          <a:xfrm>
            <a:off x="1547664" y="2359161"/>
            <a:ext cx="1050288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Allele (</a:t>
            </a:r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A6455-1D2C-9F5E-718B-C4CBB7BAF2B3}"/>
              </a:ext>
            </a:extLst>
          </p:cNvPr>
          <p:cNvSpPr txBox="1"/>
          <p:nvPr/>
        </p:nvSpPr>
        <p:spPr>
          <a:xfrm>
            <a:off x="511859" y="1765291"/>
            <a:ext cx="5170005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Does specific allele remain after a few generations?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743F241-DBF0-4535-48C6-A75B96C62D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9" y="3305572"/>
            <a:ext cx="4630269" cy="523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B6DA496-EDD5-F529-2949-3BE4AD61B368}"/>
                  </a:ext>
                </a:extLst>
              </p:cNvPr>
              <p:cNvSpPr txBox="1"/>
              <p:nvPr/>
            </p:nvSpPr>
            <p:spPr>
              <a:xfrm>
                <a:off x="3347864" y="2380251"/>
                <a:ext cx="4979697" cy="699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(Assume same population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mean the </a:t>
                </a:r>
                <a:r>
                  <a:rPr lang="en-US" altLang="ko-KR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individual with the allele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B6DA496-EDD5-F529-2949-3BE4AD61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2380251"/>
                <a:ext cx="4979697" cy="699166"/>
              </a:xfrm>
              <a:prstGeom prst="rect">
                <a:avLst/>
              </a:prstGeom>
              <a:blipFill>
                <a:blip r:embed="rId6"/>
                <a:stretch>
                  <a:fillRect l="-612" b="-10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14F05C-8CF9-6670-6CBA-9130AE4945EF}"/>
                  </a:ext>
                </a:extLst>
              </p:cNvPr>
              <p:cNvSpPr txBox="1"/>
              <p:nvPr/>
            </p:nvSpPr>
            <p:spPr>
              <a:xfrm>
                <a:off x="3347864" y="3976096"/>
                <a:ext cx="5375382" cy="379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each individual inherits the allele with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14F05C-8CF9-6670-6CBA-9130AE494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976096"/>
                <a:ext cx="5375382" cy="379078"/>
              </a:xfrm>
              <a:prstGeom prst="rect">
                <a:avLst/>
              </a:prstGeom>
              <a:blipFill>
                <a:blip r:embed="rId7"/>
                <a:stretch>
                  <a:fillRect l="-567" b="-20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3969FC7B-1645-C7DD-C25E-614FB4C1504E}"/>
              </a:ext>
            </a:extLst>
          </p:cNvPr>
          <p:cNvGrpSpPr/>
          <p:nvPr/>
        </p:nvGrpSpPr>
        <p:grpSpPr>
          <a:xfrm>
            <a:off x="4062801" y="5067200"/>
            <a:ext cx="4264760" cy="679988"/>
            <a:chOff x="4062801" y="5067200"/>
            <a:chExt cx="4264760" cy="679988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52C1E670-D0A3-654E-D9DA-92E76F1AC8E9}"/>
                </a:ext>
              </a:extLst>
            </p:cNvPr>
            <p:cNvSpPr/>
            <p:nvPr/>
          </p:nvSpPr>
          <p:spPr>
            <a:xfrm>
              <a:off x="4062801" y="5067200"/>
              <a:ext cx="4264760" cy="679988"/>
            </a:xfrm>
            <a:prstGeom prst="roundRect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2082CA6-72E5-642A-09F6-8AF840907C87}"/>
                    </a:ext>
                  </a:extLst>
                </p:cNvPr>
                <p:cNvSpPr txBox="1"/>
                <p:nvPr/>
              </p:nvSpPr>
              <p:spPr>
                <a:xfrm>
                  <a:off x="4572000" y="5150694"/>
                  <a:ext cx="3215111" cy="4149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ko-KR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Task 1: Simulate trajectory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US" altLang="ko-KR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2082CA6-72E5-642A-09F6-8AF840907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5150694"/>
                  <a:ext cx="3215111" cy="414985"/>
                </a:xfrm>
                <a:prstGeom prst="rect">
                  <a:avLst/>
                </a:prstGeom>
                <a:blipFill>
                  <a:blip r:embed="rId8"/>
                  <a:stretch>
                    <a:fillRect l="-1518" b="-235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3587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F4C69-D9FC-5DC3-2428-05BD9111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06E3A92-C215-4DC0-ADD4-13637CE8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Continuous-time Markov chain (CTMC)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1B3531A-5625-465E-9E66-08D4CFDA9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27"/>
          <a:stretch>
            <a:fillRect/>
          </a:stretch>
        </p:blipFill>
        <p:spPr>
          <a:xfrm>
            <a:off x="185630" y="1974521"/>
            <a:ext cx="2675944" cy="1602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4E995B-1451-9DF7-53A9-010EB44DB419}"/>
              </a:ext>
            </a:extLst>
          </p:cNvPr>
          <p:cNvSpPr txBox="1"/>
          <p:nvPr/>
        </p:nvSpPr>
        <p:spPr>
          <a:xfrm>
            <a:off x="450288" y="1357834"/>
            <a:ext cx="8183651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CTMC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is same with DTMC, except the transition occurs in </a:t>
            </a:r>
            <a:r>
              <a:rPr lang="en-US" altLang="ko-KR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continuous random time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1156491-509C-89F1-CA9E-8C910C4D49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900"/>
          <a:stretch>
            <a:fillRect/>
          </a:stretch>
        </p:blipFill>
        <p:spPr>
          <a:xfrm>
            <a:off x="3268616" y="1990249"/>
            <a:ext cx="2878941" cy="18546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37AAD7E-432E-60F4-AF65-56D2E6B300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245"/>
          <a:stretch>
            <a:fillRect/>
          </a:stretch>
        </p:blipFill>
        <p:spPr>
          <a:xfrm>
            <a:off x="6120197" y="1982981"/>
            <a:ext cx="2975650" cy="18475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CC75DC-5F7B-EAAB-2F74-B6D774008A60}"/>
              </a:ext>
            </a:extLst>
          </p:cNvPr>
          <p:cNvSpPr txBox="1"/>
          <p:nvPr/>
        </p:nvSpPr>
        <p:spPr>
          <a:xfrm>
            <a:off x="3116597" y="7155277"/>
            <a:ext cx="3677610" cy="101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b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Learn definition of CTMC </a:t>
            </a:r>
            <a:b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Run simulation scheme of CTMC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C15F8439-6734-F3F2-9D21-A9CA704D3A01}"/>
              </a:ext>
            </a:extLst>
          </p:cNvPr>
          <p:cNvSpPr/>
          <p:nvPr/>
        </p:nvSpPr>
        <p:spPr>
          <a:xfrm>
            <a:off x="2921934" y="2581970"/>
            <a:ext cx="288032" cy="486786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9404A00-981D-1581-DD4C-A89D86BCA8C2}"/>
              </a:ext>
            </a:extLst>
          </p:cNvPr>
          <p:cNvGrpSpPr/>
          <p:nvPr/>
        </p:nvGrpSpPr>
        <p:grpSpPr>
          <a:xfrm>
            <a:off x="323528" y="4013695"/>
            <a:ext cx="8507038" cy="2250518"/>
            <a:chOff x="323528" y="4013695"/>
            <a:chExt cx="8507038" cy="225051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1A1D975-6E3B-E7E4-E049-0E7ED14C20CD}"/>
                </a:ext>
              </a:extLst>
            </p:cNvPr>
            <p:cNvSpPr txBox="1"/>
            <p:nvPr/>
          </p:nvSpPr>
          <p:spPr>
            <a:xfrm>
              <a:off x="447296" y="4013695"/>
              <a:ext cx="6042039" cy="379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Use for 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discrete state, continuous time (modeling reactions): </a:t>
              </a:r>
              <a:endPara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0F773AA-949C-0E97-EF48-538E0F507C3C}"/>
                </a:ext>
              </a:extLst>
            </p:cNvPr>
            <p:cNvGrpSpPr/>
            <p:nvPr/>
          </p:nvGrpSpPr>
          <p:grpSpPr>
            <a:xfrm>
              <a:off x="323528" y="4572850"/>
              <a:ext cx="1872208" cy="1691363"/>
              <a:chOff x="653279" y="4492361"/>
              <a:chExt cx="1872208" cy="169136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585D92-0B86-FC9F-0E7A-D6C7D3B45250}"/>
                  </a:ext>
                </a:extLst>
              </p:cNvPr>
              <p:cNvSpPr txBox="1"/>
              <p:nvPr/>
            </p:nvSpPr>
            <p:spPr>
              <a:xfrm>
                <a:off x="777047" y="4492361"/>
                <a:ext cx="1398140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Ion channel</a:t>
                </a: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8CC04AAC-2611-C3D8-2F49-0E7A6FBD6D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279" y="4816608"/>
                <a:ext cx="1872208" cy="1367116"/>
              </a:xfrm>
              <a:prstGeom prst="rect">
                <a:avLst/>
              </a:prstGeom>
            </p:spPr>
          </p:pic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BD9C37C-DD7E-7CBC-FA04-5A0BAEC61D57}"/>
                </a:ext>
              </a:extLst>
            </p:cNvPr>
            <p:cNvGrpSpPr/>
            <p:nvPr/>
          </p:nvGrpSpPr>
          <p:grpSpPr>
            <a:xfrm>
              <a:off x="2319504" y="4572850"/>
              <a:ext cx="2335639" cy="1499959"/>
              <a:chOff x="3138301" y="4533706"/>
              <a:chExt cx="2335639" cy="1499959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496620-FEBA-95A8-C509-4E2354C1D234}"/>
                  </a:ext>
                </a:extLst>
              </p:cNvPr>
              <p:cNvSpPr txBox="1"/>
              <p:nvPr/>
            </p:nvSpPr>
            <p:spPr>
              <a:xfrm>
                <a:off x="3138301" y="4533706"/>
                <a:ext cx="2335639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400">
                    <a:latin typeface="Arial" panose="020B0604020202020204" pitchFamily="34" charset="0"/>
                    <a:cs typeface="Arial" panose="020B0604020202020204" pitchFamily="34" charset="0"/>
                  </a:rPr>
                  <a:t>Transcription regulation</a:t>
                </a:r>
                <a:endPara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E4519970-0ED5-D665-A01B-68FE1BCB9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6975" y="5055291"/>
                <a:ext cx="1630624" cy="978374"/>
              </a:xfrm>
              <a:prstGeom prst="rect">
                <a:avLst/>
              </a:prstGeom>
            </p:spPr>
          </p:pic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6058C73-2FC1-2DE1-6823-54EE3E29CBD0}"/>
                </a:ext>
              </a:extLst>
            </p:cNvPr>
            <p:cNvGrpSpPr/>
            <p:nvPr/>
          </p:nvGrpSpPr>
          <p:grpSpPr>
            <a:xfrm>
              <a:off x="6794324" y="4597318"/>
              <a:ext cx="2036242" cy="1307439"/>
              <a:chOff x="6044347" y="4533705"/>
              <a:chExt cx="2036242" cy="1307439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E1A847C-9358-4B14-0B1A-043AF71E4D3A}"/>
                  </a:ext>
                </a:extLst>
              </p:cNvPr>
              <p:cNvSpPr txBox="1"/>
              <p:nvPr/>
            </p:nvSpPr>
            <p:spPr>
              <a:xfrm>
                <a:off x="6044347" y="4533705"/>
                <a:ext cx="1955985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Infection dynamics</a:t>
                </a:r>
              </a:p>
            </p:txBody>
          </p:sp>
          <p:pic>
            <p:nvPicPr>
              <p:cNvPr id="31" name="그림 30" descr="Understanding the SIR model | Sinead Morris">
                <a:extLst>
                  <a:ext uri="{FF2B5EF4-FFF2-40B4-BE49-F238E27FC236}">
                    <a16:creationId xmlns:a16="http://schemas.microsoft.com/office/drawing/2014/main" id="{06558FAD-D7B3-4DC5-5430-24888BB32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7557" y="5247811"/>
                <a:ext cx="1933032" cy="593333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CECBFA-1A6F-1D8A-4FAA-D10FE3ED4A05}"/>
                </a:ext>
              </a:extLst>
            </p:cNvPr>
            <p:cNvSpPr txBox="1"/>
            <p:nvPr/>
          </p:nvSpPr>
          <p:spPr>
            <a:xfrm>
              <a:off x="4685909" y="4584114"/>
              <a:ext cx="1927131" cy="343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ü"/>
              </a:pP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Signaling pathway</a:t>
              </a: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4FB9CAB-9872-5110-3609-EED425D99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89625" y="4960181"/>
              <a:ext cx="2119701" cy="12757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812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1975-D854-2393-C37B-C79E6315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그룹 65">
            <a:extLst>
              <a:ext uri="{FF2B5EF4-FFF2-40B4-BE49-F238E27FC236}">
                <a16:creationId xmlns:a16="http://schemas.microsoft.com/office/drawing/2014/main" id="{85410353-1C97-85DC-F97E-D66F5F13ED5A}"/>
              </a:ext>
            </a:extLst>
          </p:cNvPr>
          <p:cNvGrpSpPr>
            <a:grpSpLocks noChangeAspect="1"/>
          </p:cNvGrpSpPr>
          <p:nvPr/>
        </p:nvGrpSpPr>
        <p:grpSpPr>
          <a:xfrm>
            <a:off x="2236797" y="3158112"/>
            <a:ext cx="3886367" cy="2415338"/>
            <a:chOff x="5543874" y="1268760"/>
            <a:chExt cx="3314376" cy="2059851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E1488455-5595-5A7F-6E14-6CCD45474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68144" y="1268760"/>
              <a:ext cx="2990106" cy="2059851"/>
            </a:xfrm>
            <a:prstGeom prst="rect">
              <a:avLst/>
            </a:prstGeom>
          </p:spPr>
        </p:pic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A438921-77E0-D409-AE2E-E2034111FBE8}"/>
                </a:ext>
              </a:extLst>
            </p:cNvPr>
            <p:cNvCxnSpPr>
              <a:cxnSpLocks/>
            </p:cNvCxnSpPr>
            <p:nvPr/>
          </p:nvCxnSpPr>
          <p:spPr>
            <a:xfrm>
              <a:off x="7020272" y="2359919"/>
              <a:ext cx="0" cy="92506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8C161F59-4784-41D2-3352-82DE32CF08B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3062" y="2194396"/>
              <a:ext cx="74402" cy="90000"/>
            </a:xfrm>
            <a:prstGeom prst="rect">
              <a:avLst/>
            </a:prstGeom>
          </p:spPr>
        </p:pic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8FCBB9B4-D77B-F9AB-3A7E-B53CA0B1A10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6034" y="2186962"/>
              <a:ext cx="333091" cy="120112"/>
            </a:xfrm>
            <a:prstGeom prst="rect">
              <a:avLst/>
            </a:prstGeom>
          </p:spPr>
        </p:pic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718B79A7-50AB-06DE-4152-519AC4F380F1}"/>
                </a:ext>
              </a:extLst>
            </p:cNvPr>
            <p:cNvCxnSpPr>
              <a:cxnSpLocks/>
            </p:cNvCxnSpPr>
            <p:nvPr/>
          </p:nvCxnSpPr>
          <p:spPr>
            <a:xfrm>
              <a:off x="7613449" y="2359919"/>
              <a:ext cx="0" cy="925065"/>
            </a:xfrm>
            <a:prstGeom prst="line">
              <a:avLst/>
            </a:prstGeom>
            <a:ln w="127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1556E1DB-16E1-896A-4B0B-561CDC54CE4F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874" y="1385692"/>
              <a:ext cx="360237" cy="119421"/>
            </a:xfrm>
            <a:prstGeom prst="rect">
              <a:avLst/>
            </a:prstGeom>
          </p:spPr>
        </p:pic>
      </p:grpSp>
      <p:sp>
        <p:nvSpPr>
          <p:cNvPr id="7" name="제목 6">
            <a:extLst>
              <a:ext uri="{FF2B5EF4-FFF2-40B4-BE49-F238E27FC236}">
                <a16:creationId xmlns:a16="http://schemas.microsoft.com/office/drawing/2014/main" id="{C6752500-A61F-495B-2C99-7FF2AC78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CTMC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24433-92E0-B87F-C1B3-76D4DB014D0D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4A8512-2F65-21EF-FBEA-FAD11C36D271}"/>
              </a:ext>
            </a:extLst>
          </p:cNvPr>
          <p:cNvGrpSpPr>
            <a:grpSpLocks noChangeAspect="1"/>
          </p:cNvGrpSpPr>
          <p:nvPr/>
        </p:nvGrpSpPr>
        <p:grpSpPr>
          <a:xfrm>
            <a:off x="3121361" y="4437582"/>
            <a:ext cx="928780" cy="1084712"/>
            <a:chOff x="6300192" y="2359919"/>
            <a:chExt cx="792083" cy="92506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3A68880-62FA-FCC7-A35A-0BAEC17C6CE1}"/>
                </a:ext>
              </a:extLst>
            </p:cNvPr>
            <p:cNvSpPr/>
            <p:nvPr/>
          </p:nvSpPr>
          <p:spPr>
            <a:xfrm>
              <a:off x="6300192" y="2359919"/>
              <a:ext cx="720071" cy="925065"/>
            </a:xfrm>
            <a:prstGeom prst="rect">
              <a:avLst/>
            </a:prstGeom>
            <a:solidFill>
              <a:schemeClr val="bg1">
                <a:lumMod val="95000"/>
                <a:alpha val="6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E156AC3-946E-BE9E-CA5B-DE94E92E1139}"/>
                </a:ext>
              </a:extLst>
            </p:cNvPr>
            <p:cNvSpPr/>
            <p:nvPr/>
          </p:nvSpPr>
          <p:spPr>
            <a:xfrm>
              <a:off x="6948268" y="2882268"/>
              <a:ext cx="144007" cy="17374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2" name="그림 71">
            <a:extLst>
              <a:ext uri="{FF2B5EF4-FFF2-40B4-BE49-F238E27FC236}">
                <a16:creationId xmlns:a16="http://schemas.microsoft.com/office/drawing/2014/main" id="{3A27F754-1BB0-8DBB-7A1A-97AEC4BAE81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942" y="2468850"/>
            <a:ext cx="5848690" cy="19035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317EF17-09AA-DF17-5B45-ABA161B26963}"/>
              </a:ext>
            </a:extLst>
          </p:cNvPr>
          <p:cNvSpPr txBox="1"/>
          <p:nvPr/>
        </p:nvSpPr>
        <p:spPr>
          <a:xfrm>
            <a:off x="5525115" y="5016175"/>
            <a:ext cx="333777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Markovian property (Cf. DTMC)</a:t>
            </a: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7FEC2AF-1A08-6081-9BE3-F4473435F14A}"/>
                  </a:ext>
                </a:extLst>
              </p:cNvPr>
              <p:cNvSpPr txBox="1"/>
              <p:nvPr/>
            </p:nvSpPr>
            <p:spPr>
              <a:xfrm>
                <a:off x="307819" y="1769789"/>
                <a:ext cx="6877588" cy="379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Stochastic process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 time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</m:oMath>
                </a14:m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&amp; finite states) is CTMC if:</a:t>
                </a:r>
                <a:endPara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7FEC2AF-1A08-6081-9BE3-F4473435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19" y="1769789"/>
                <a:ext cx="6877588" cy="379078"/>
              </a:xfrm>
              <a:prstGeom prst="rect">
                <a:avLst/>
              </a:prstGeom>
              <a:blipFill>
                <a:blip r:embed="rId12"/>
                <a:stretch>
                  <a:fillRect l="-354" r="-354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1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7627-F326-FA40-D504-7ACF635D6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EB1231D-98BA-3E95-7995-D18C1ADA4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CTMC</a:t>
            </a:r>
            <a:endParaRPr lang="en-US" altLang="ko-K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C32A16-281D-0A76-0659-970E67D940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327"/>
          <a:stretch>
            <a:fillRect/>
          </a:stretch>
        </p:blipFill>
        <p:spPr>
          <a:xfrm>
            <a:off x="29840" y="2499671"/>
            <a:ext cx="5519201" cy="33055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60F8C0-FEAC-5F64-5244-3E87A8C3E2DA}"/>
              </a:ext>
            </a:extLst>
          </p:cNvPr>
          <p:cNvSpPr txBox="1"/>
          <p:nvPr/>
        </p:nvSpPr>
        <p:spPr>
          <a:xfrm>
            <a:off x="5492441" y="2162395"/>
            <a:ext cx="189667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jump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96113-FE91-6026-3530-70B5543C5986}"/>
              </a:ext>
            </a:extLst>
          </p:cNvPr>
          <p:cNvSpPr txBox="1"/>
          <p:nvPr/>
        </p:nvSpPr>
        <p:spPr>
          <a:xfrm>
            <a:off x="5494717" y="3795815"/>
            <a:ext cx="196560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2. Where to jump?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562435C-4240-9A45-C804-2C40B00CAD00}"/>
                  </a:ext>
                </a:extLst>
              </p:cNvPr>
              <p:cNvSpPr txBox="1"/>
              <p:nvPr/>
            </p:nvSpPr>
            <p:spPr>
              <a:xfrm>
                <a:off x="611560" y="2159022"/>
                <a:ext cx="2967672" cy="379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(Start from state 1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562435C-4240-9A45-C804-2C40B00CA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59022"/>
                <a:ext cx="2967672" cy="379078"/>
              </a:xfrm>
              <a:prstGeom prst="rect">
                <a:avLst/>
              </a:prstGeom>
              <a:blipFill>
                <a:blip r:embed="rId4"/>
                <a:stretch>
                  <a:fillRect l="-1027" b="-209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AF80309-FB44-3B9A-9022-4989905D1F79}"/>
              </a:ext>
            </a:extLst>
          </p:cNvPr>
          <p:cNvSpPr txBox="1"/>
          <p:nvPr/>
        </p:nvSpPr>
        <p:spPr>
          <a:xfrm>
            <a:off x="5724128" y="2863903"/>
            <a:ext cx="3023585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How long before the transition?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C5547D-B02A-E7CF-BA19-A155ED5567A9}"/>
              </a:ext>
            </a:extLst>
          </p:cNvPr>
          <p:cNvSpPr txBox="1"/>
          <p:nvPr/>
        </p:nvSpPr>
        <p:spPr>
          <a:xfrm>
            <a:off x="5724128" y="4611000"/>
            <a:ext cx="2989921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Which state will it transition to?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11B92E-C536-7939-A818-0F0DE634D0BA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3730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Determine a CTMC ‘uniquely’</a:t>
            </a:r>
          </a:p>
        </p:txBody>
      </p:sp>
    </p:spTree>
    <p:extLst>
      <p:ext uri="{BB962C8B-B14F-4D97-AF65-F5344CB8AC3E}">
        <p14:creationId xmlns:p14="http://schemas.microsoft.com/office/powerpoint/2010/main" val="357847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9F0C-EDE5-F1FF-92FD-A2746335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5D38D522-813C-02CC-8E0C-86D5215B9C51}"/>
              </a:ext>
            </a:extLst>
          </p:cNvPr>
          <p:cNvSpPr txBox="1"/>
          <p:nvPr/>
        </p:nvSpPr>
        <p:spPr>
          <a:xfrm>
            <a:off x="1004965" y="4117011"/>
            <a:ext cx="2359941" cy="623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Memoryless property: 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767AB86-86D5-1CFA-5A11-57AA4B1F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CTMC</a:t>
            </a:r>
            <a:endParaRPr lang="ko-KR" altLang="en-US" sz="28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686554-CF76-84A1-25B4-B35A4980CB6C}"/>
              </a:ext>
            </a:extLst>
          </p:cNvPr>
          <p:cNvSpPr txBox="1"/>
          <p:nvPr/>
        </p:nvSpPr>
        <p:spPr>
          <a:xfrm>
            <a:off x="251520" y="1196752"/>
            <a:ext cx="1955985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When to jump?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D21F14-3937-01F4-925B-EC3E8ABD88D9}"/>
                  </a:ext>
                </a:extLst>
              </p:cNvPr>
              <p:cNvSpPr txBox="1"/>
              <p:nvPr/>
            </p:nvSpPr>
            <p:spPr>
              <a:xfrm>
                <a:off x="611560" y="1647355"/>
                <a:ext cx="8289705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(Given current state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,) 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Waiting time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𝝉</m:t>
                    </m:r>
                  </m:oMath>
                </a14:m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should be sampled from 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exponential distribution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D21F14-3937-01F4-925B-EC3E8ABD8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647355"/>
                <a:ext cx="8289705" cy="343235"/>
              </a:xfrm>
              <a:prstGeom prst="rect">
                <a:avLst/>
              </a:prstGeom>
              <a:blipFill>
                <a:blip r:embed="rId10"/>
                <a:stretch>
                  <a:fillRect l="-74" b="-175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032BD72B-0494-81C3-E742-B5AEE7B6611D}"/>
              </a:ext>
            </a:extLst>
          </p:cNvPr>
          <p:cNvGrpSpPr/>
          <p:nvPr/>
        </p:nvGrpSpPr>
        <p:grpSpPr>
          <a:xfrm>
            <a:off x="6251113" y="2119186"/>
            <a:ext cx="2592287" cy="1658333"/>
            <a:chOff x="6251113" y="2119186"/>
            <a:chExt cx="2592287" cy="1658333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0A33635-D361-C499-4620-DB806C2224DB}"/>
                </a:ext>
              </a:extLst>
            </p:cNvPr>
            <p:cNvGrpSpPr/>
            <p:nvPr/>
          </p:nvGrpSpPr>
          <p:grpSpPr>
            <a:xfrm>
              <a:off x="6251113" y="2119186"/>
              <a:ext cx="2592287" cy="1658333"/>
              <a:chOff x="683567" y="2701116"/>
              <a:chExt cx="3140872" cy="1952020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29D280B5-2D47-2191-1200-BE9BFAF32E2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83567" y="2701116"/>
                <a:ext cx="3140872" cy="1952020"/>
                <a:chOff x="5543874" y="1268760"/>
                <a:chExt cx="3314375" cy="2059851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9D83A9CB-F5A3-C9D8-0C9A-F950CEC3EF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68143" y="1268760"/>
                  <a:ext cx="2990106" cy="2059851"/>
                </a:xfrm>
                <a:prstGeom prst="rect">
                  <a:avLst/>
                </a:prstGeom>
              </p:spPr>
            </p:pic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F7BC7F2C-DC3E-BEE9-721F-EF15A6723B7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43874" y="1385692"/>
                  <a:ext cx="360237" cy="119421"/>
                </a:xfrm>
                <a:prstGeom prst="rect">
                  <a:avLst/>
                </a:prstGeom>
              </p:spPr>
            </p:pic>
          </p:grp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827A6405-F5AE-2740-A671-96594C351B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455" y="4365104"/>
                <a:ext cx="366425" cy="0"/>
              </a:xfrm>
              <a:prstGeom prst="straightConnector1">
                <a:avLst/>
              </a:prstGeom>
              <a:ln w="12700">
                <a:solidFill>
                  <a:schemeClr val="bg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ED657EA7-D452-B178-5C95-CF4643581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2455" y="3744503"/>
                <a:ext cx="0" cy="84266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76B3A2D-B9AA-DECA-C455-5F4AB0ECF57A}"/>
                  </a:ext>
                </a:extLst>
              </p:cNvPr>
              <p:cNvSpPr/>
              <p:nvPr/>
            </p:nvSpPr>
            <p:spPr>
              <a:xfrm>
                <a:off x="2662453" y="3732502"/>
                <a:ext cx="368590" cy="84266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8B8E475-8113-B781-3A85-F4E16B78D0C2}"/>
                    </a:ext>
                  </a:extLst>
                </p:cNvPr>
                <p:cNvSpPr txBox="1"/>
                <p:nvPr/>
              </p:nvSpPr>
              <p:spPr>
                <a:xfrm>
                  <a:off x="7413565" y="2716089"/>
                  <a:ext cx="1130438" cy="28950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ko-KR" sz="11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Waiting time </a:t>
                  </a:r>
                  <a14:m>
                    <m:oMath xmlns:m="http://schemas.openxmlformats.org/officeDocument/2006/math">
                      <m:r>
                        <a:rPr lang="en-US" altLang="ko-KR" sz="11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𝝉</m:t>
                      </m:r>
                    </m:oMath>
                  </a14:m>
                  <a:endParaRPr lang="en-US" altLang="ko-KR" sz="11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8B8E475-8113-B781-3A85-F4E16B78D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3565" y="2716089"/>
                  <a:ext cx="1130438" cy="289503"/>
                </a:xfrm>
                <a:prstGeom prst="rect">
                  <a:avLst/>
                </a:prstGeom>
                <a:blipFill>
                  <a:blip r:embed="rId13"/>
                  <a:stretch>
                    <a:fillRect b="-1489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938C5EDF-F174-AF37-B1C4-22E2AC01C4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178" y="2379919"/>
            <a:ext cx="2572638" cy="2086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F7CE50-DA9B-C516-E99D-33CFB5A78256}"/>
                  </a:ext>
                </a:extLst>
              </p:cNvPr>
              <p:cNvSpPr txBox="1"/>
              <p:nvPr/>
            </p:nvSpPr>
            <p:spPr>
              <a:xfrm>
                <a:off x="899592" y="2937210"/>
                <a:ext cx="5119735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b="0" dirty="0"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called ‘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jump rate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’ of state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)≈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6F7CE50-DA9B-C516-E99D-33CFB5A78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937210"/>
                <a:ext cx="5119735" cy="343235"/>
              </a:xfrm>
              <a:prstGeom prst="rect">
                <a:avLst/>
              </a:prstGeom>
              <a:blipFill>
                <a:blip r:embed="rId15"/>
                <a:stretch>
                  <a:fillRect l="-358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A4606D3C-EDB4-4033-A77C-CD39BEAF0FE4}"/>
              </a:ext>
            </a:extLst>
          </p:cNvPr>
          <p:cNvSpPr txBox="1"/>
          <p:nvPr/>
        </p:nvSpPr>
        <p:spPr>
          <a:xfrm>
            <a:off x="608775" y="3573167"/>
            <a:ext cx="3228769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Property of exponential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6E0D67-5A20-6B19-3408-4A8CC63F3E19}"/>
                  </a:ext>
                </a:extLst>
              </p:cNvPr>
              <p:cNvSpPr txBox="1"/>
              <p:nvPr/>
            </p:nvSpPr>
            <p:spPr>
              <a:xfrm>
                <a:off x="1004965" y="4021263"/>
                <a:ext cx="3411383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altLang="ko-KR" sz="1400" b="0" dirty="0">
                    <a:cs typeface="Arial" panose="020B0604020202020204" pitchFamily="34" charset="0"/>
                  </a:rPr>
                  <a:t>Characterized by single parameter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</m:oMath>
                </a14:m>
                <a:endPara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6E0D67-5A20-6B19-3408-4A8CC63F3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65" y="4021263"/>
                <a:ext cx="3411383" cy="343235"/>
              </a:xfrm>
              <a:prstGeom prst="rect">
                <a:avLst/>
              </a:prstGeom>
              <a:blipFill>
                <a:blip r:embed="rId16"/>
                <a:stretch>
                  <a:fillRect l="-358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그룹 80">
            <a:extLst>
              <a:ext uri="{FF2B5EF4-FFF2-40B4-BE49-F238E27FC236}">
                <a16:creationId xmlns:a16="http://schemas.microsoft.com/office/drawing/2014/main" id="{6FF5B041-925A-C4F3-0241-C580DEDAA871}"/>
              </a:ext>
            </a:extLst>
          </p:cNvPr>
          <p:cNvGrpSpPr/>
          <p:nvPr/>
        </p:nvGrpSpPr>
        <p:grpSpPr>
          <a:xfrm>
            <a:off x="2348289" y="5017775"/>
            <a:ext cx="3722574" cy="1255085"/>
            <a:chOff x="2348289" y="5017775"/>
            <a:chExt cx="3722574" cy="125508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F53B30B-36A3-D162-D385-7E222FBFA307}"/>
                </a:ext>
              </a:extLst>
            </p:cNvPr>
            <p:cNvGrpSpPr/>
            <p:nvPr/>
          </p:nvGrpSpPr>
          <p:grpSpPr>
            <a:xfrm>
              <a:off x="4572000" y="5017775"/>
              <a:ext cx="1498863" cy="1251694"/>
              <a:chOff x="4283968" y="5021166"/>
              <a:chExt cx="1498863" cy="1251694"/>
            </a:xfrm>
          </p:grpSpPr>
          <p:pic>
            <p:nvPicPr>
              <p:cNvPr id="75" name="그림 74">
                <a:extLst>
                  <a:ext uri="{FF2B5EF4-FFF2-40B4-BE49-F238E27FC236}">
                    <a16:creationId xmlns:a16="http://schemas.microsoft.com/office/drawing/2014/main" id="{AE06D0E7-A0FE-3961-C64E-ED168BE9A20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517" y="6100347"/>
                <a:ext cx="647700" cy="172513"/>
              </a:xfrm>
              <a:prstGeom prst="rect">
                <a:avLst/>
              </a:prstGeom>
            </p:spPr>
          </p:pic>
          <p:pic>
            <p:nvPicPr>
              <p:cNvPr id="67" name="그림 66" descr="Figure 3: Shifting the PDF">
                <a:extLst>
                  <a:ext uri="{FF2B5EF4-FFF2-40B4-BE49-F238E27FC236}">
                    <a16:creationId xmlns:a16="http://schemas.microsoft.com/office/drawing/2014/main" id="{BAD94352-79C6-F87C-4DC1-A8501CCDD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83968" y="5021166"/>
                <a:ext cx="1498863" cy="1079181"/>
              </a:xfrm>
              <a:prstGeom prst="rect">
                <a:avLst/>
              </a:prstGeom>
            </p:spPr>
          </p:pic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CF788A0B-DC1D-3B8E-3F01-704421685603}"/>
                </a:ext>
              </a:extLst>
            </p:cNvPr>
            <p:cNvGrpSpPr/>
            <p:nvPr/>
          </p:nvGrpSpPr>
          <p:grpSpPr>
            <a:xfrm>
              <a:off x="2348289" y="5021166"/>
              <a:ext cx="1498862" cy="1251694"/>
              <a:chOff x="2348289" y="5021166"/>
              <a:chExt cx="1498862" cy="1251694"/>
            </a:xfrm>
          </p:grpSpPr>
          <p:pic>
            <p:nvPicPr>
              <p:cNvPr id="64" name="그림 63" descr="Figure 2: Rescaling the truncated PDF">
                <a:extLst>
                  <a:ext uri="{FF2B5EF4-FFF2-40B4-BE49-F238E27FC236}">
                    <a16:creationId xmlns:a16="http://schemas.microsoft.com/office/drawing/2014/main" id="{C73A2C8F-7355-C94B-D883-C4CEF9772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48289" y="5021166"/>
                <a:ext cx="1498862" cy="1079181"/>
              </a:xfrm>
              <a:prstGeom prst="rect">
                <a:avLst/>
              </a:prstGeom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36783752-68EE-8E9A-C133-BBD0C9582AC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9713" y="6100347"/>
                <a:ext cx="1352215" cy="172513"/>
              </a:xfrm>
              <a:prstGeom prst="rect">
                <a:avLst/>
              </a:prstGeom>
            </p:spPr>
          </p:pic>
        </p:grpSp>
        <p:sp>
          <p:nvSpPr>
            <p:cNvPr id="80" name="같음 기호 79">
              <a:extLst>
                <a:ext uri="{FF2B5EF4-FFF2-40B4-BE49-F238E27FC236}">
                  <a16:creationId xmlns:a16="http://schemas.microsoft.com/office/drawing/2014/main" id="{0157111F-DC50-568E-4498-577BD00389C5}"/>
                </a:ext>
              </a:extLst>
            </p:cNvPr>
            <p:cNvSpPr/>
            <p:nvPr/>
          </p:nvSpPr>
          <p:spPr>
            <a:xfrm>
              <a:off x="3952859" y="5445224"/>
              <a:ext cx="432048" cy="288032"/>
            </a:xfrm>
            <a:prstGeom prst="mathEqual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E494A1F-6DA5-0FB9-C207-F128574101C5}"/>
              </a:ext>
            </a:extLst>
          </p:cNvPr>
          <p:cNvGrpSpPr/>
          <p:nvPr/>
        </p:nvGrpSpPr>
        <p:grpSpPr>
          <a:xfrm>
            <a:off x="6300192" y="4404005"/>
            <a:ext cx="2592288" cy="1658333"/>
            <a:chOff x="683567" y="2701116"/>
            <a:chExt cx="3140873" cy="1952020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76F73F67-FA0F-954D-356E-5EA9BC937D9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83567" y="2701116"/>
              <a:ext cx="3140873" cy="1952020"/>
              <a:chOff x="5543874" y="1268760"/>
              <a:chExt cx="3314376" cy="2059851"/>
            </a:xfrm>
          </p:grpSpPr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E5CC04DB-8B1C-0E94-ACEF-4485F35A9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68144" y="1268760"/>
                <a:ext cx="2990106" cy="2059851"/>
              </a:xfrm>
              <a:prstGeom prst="rect">
                <a:avLst/>
              </a:prstGeom>
            </p:spPr>
          </p:pic>
          <p:pic>
            <p:nvPicPr>
              <p:cNvPr id="88" name="그림 87">
                <a:extLst>
                  <a:ext uri="{FF2B5EF4-FFF2-40B4-BE49-F238E27FC236}">
                    <a16:creationId xmlns:a16="http://schemas.microsoft.com/office/drawing/2014/main" id="{B3778D02-FF25-3675-4894-C43767A2027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43874" y="1385692"/>
                <a:ext cx="360237" cy="119421"/>
              </a:xfrm>
              <a:prstGeom prst="rect">
                <a:avLst/>
              </a:prstGeom>
            </p:spPr>
          </p:pic>
        </p:grp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F7210E34-7EFA-7E72-FDCE-07BCA416EC0F}"/>
                </a:ext>
              </a:extLst>
            </p:cNvPr>
            <p:cNvCxnSpPr>
              <a:cxnSpLocks/>
            </p:cNvCxnSpPr>
            <p:nvPr/>
          </p:nvCxnSpPr>
          <p:spPr>
            <a:xfrm>
              <a:off x="2431698" y="4365104"/>
              <a:ext cx="597182" cy="0"/>
            </a:xfrm>
            <a:prstGeom prst="straightConnector1">
              <a:avLst/>
            </a:prstGeom>
            <a:ln w="12700">
              <a:solidFill>
                <a:schemeClr val="bg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4E62BBFA-21B8-44D9-CE18-5FCB6E8F109C}"/>
                </a:ext>
              </a:extLst>
            </p:cNvPr>
            <p:cNvCxnSpPr>
              <a:cxnSpLocks/>
            </p:cNvCxnSpPr>
            <p:nvPr/>
          </p:nvCxnSpPr>
          <p:spPr>
            <a:xfrm>
              <a:off x="2401831" y="3737308"/>
              <a:ext cx="0" cy="84266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7493530-8046-70F6-9FB6-65BE12143BF3}"/>
                </a:ext>
              </a:extLst>
            </p:cNvPr>
            <p:cNvSpPr/>
            <p:nvPr/>
          </p:nvSpPr>
          <p:spPr>
            <a:xfrm>
              <a:off x="2392477" y="3719790"/>
              <a:ext cx="636402" cy="842667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60AC525-AFBE-CD01-6E23-0AA66A4508EA}"/>
                  </a:ext>
                </a:extLst>
              </p:cNvPr>
              <p:cNvSpPr txBox="1"/>
              <p:nvPr/>
            </p:nvSpPr>
            <p:spPr>
              <a:xfrm>
                <a:off x="6835569" y="4233236"/>
                <a:ext cx="2148409" cy="280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altLang="ko-KR" sz="105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altLang="ko-KR" sz="1050" dirty="0">
                    <a:latin typeface="Arial" panose="020B0604020202020204" pitchFamily="34" charset="0"/>
                    <a:cs typeface="Arial" panose="020B0604020202020204" pitchFamily="34" charset="0"/>
                  </a:rPr>
                  <a:t> is free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05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sz="10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60AC525-AFBE-CD01-6E23-0AA66A450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69" y="4233236"/>
                <a:ext cx="2148409" cy="280526"/>
              </a:xfrm>
              <a:prstGeom prst="rect">
                <a:avLst/>
              </a:prstGeom>
              <a:blipFill>
                <a:blip r:embed="rId21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37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32" grpId="0"/>
      <p:bldP spid="44" grpId="0"/>
      <p:bldP spid="51" grpId="0"/>
      <p:bldP spid="53" grpId="0"/>
      <p:bldP spid="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9AEE-968D-6E8A-ED58-1C8E9CB0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239C81E-56AF-2CD1-AE4C-3F758380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CTMC</a:t>
            </a:r>
            <a:endParaRPr lang="ko-KR" alt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58E369-61E3-3C18-E19E-D8CCC1D5AED5}"/>
              </a:ext>
            </a:extLst>
          </p:cNvPr>
          <p:cNvSpPr txBox="1"/>
          <p:nvPr/>
        </p:nvSpPr>
        <p:spPr>
          <a:xfrm>
            <a:off x="179512" y="1177714"/>
            <a:ext cx="202491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Where to jump?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02325-3FE2-CF0A-298A-C1DABECE4BB8}"/>
                  </a:ext>
                </a:extLst>
              </p:cNvPr>
              <p:cNvSpPr txBox="1"/>
              <p:nvPr/>
            </p:nvSpPr>
            <p:spPr>
              <a:xfrm>
                <a:off x="577655" y="1628800"/>
                <a:ext cx="7193508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(Given current state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,) 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Next state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sampled from 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discrete distribution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02325-3FE2-CF0A-298A-C1DABECE4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55" y="1628800"/>
                <a:ext cx="7193508" cy="343235"/>
              </a:xfrm>
              <a:prstGeom prst="rect">
                <a:avLst/>
              </a:prstGeom>
              <a:blipFill>
                <a:blip r:embed="rId6"/>
                <a:stretch>
                  <a:fillRect l="-169" b="-1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14AD21BE-372E-345A-DFC5-F2F86A98CA1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816" y="2418774"/>
            <a:ext cx="1746359" cy="1854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EBBA45-C14A-7056-D884-CE562E1F6794}"/>
                  </a:ext>
                </a:extLst>
              </p:cNvPr>
              <p:cNvSpPr txBox="1"/>
              <p:nvPr/>
            </p:nvSpPr>
            <p:spPr>
              <a:xfrm>
                <a:off x="934276" y="3001555"/>
                <a:ext cx="5015989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b="0" dirty="0"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𝑥𝑥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‘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transition probability</a:t>
                </a: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’ from state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EBBA45-C14A-7056-D884-CE562E1F6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276" y="3001555"/>
                <a:ext cx="5015989" cy="343235"/>
              </a:xfrm>
              <a:prstGeom prst="rect">
                <a:avLst/>
              </a:prstGeom>
              <a:blipFill>
                <a:blip r:embed="rId8"/>
                <a:stretch>
                  <a:fillRect l="-365" r="-243" b="-175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522D31-98A7-1E02-7613-64EFB7C6A998}"/>
                  </a:ext>
                </a:extLst>
              </p:cNvPr>
              <p:cNvSpPr txBox="1"/>
              <p:nvPr/>
            </p:nvSpPr>
            <p:spPr>
              <a:xfrm>
                <a:off x="1188480" y="3257382"/>
                <a:ext cx="1267591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𝑥𝑥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b>
                        </m:sSub>
                      </m:e>
                    </m:nary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522D31-98A7-1E02-7613-64EFB7C6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480" y="3257382"/>
                <a:ext cx="1267591" cy="343235"/>
              </a:xfrm>
              <a:prstGeom prst="rect">
                <a:avLst/>
              </a:prstGeom>
              <a:blipFill>
                <a:blip r:embed="rId10"/>
                <a:stretch>
                  <a:fillRect l="-13462" t="-78947" r="-481" b="-142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C79437ED-6335-378C-AD7A-17739C333FB1}"/>
              </a:ext>
            </a:extLst>
          </p:cNvPr>
          <p:cNvGrpSpPr/>
          <p:nvPr/>
        </p:nvGrpSpPr>
        <p:grpSpPr>
          <a:xfrm>
            <a:off x="494487" y="3834116"/>
            <a:ext cx="6455343" cy="1644267"/>
            <a:chOff x="494487" y="3834116"/>
            <a:chExt cx="6455343" cy="164426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B9D6D60-8FBD-F57E-BD50-509523AD44F9}"/>
                    </a:ext>
                  </a:extLst>
                </p:cNvPr>
                <p:cNvSpPr txBox="1"/>
                <p:nvPr/>
              </p:nvSpPr>
              <p:spPr>
                <a:xfrm>
                  <a:off x="494487" y="3834116"/>
                  <a:ext cx="4606389" cy="3432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lnSpc>
                      <a:spcPct val="130000"/>
                    </a:lnSpc>
                    <a:buFont typeface="Wingdings" panose="05000000000000000000" pitchFamily="2" charset="2"/>
                    <a:buChar char="v"/>
                  </a:pPr>
                  <a:r>
                    <a:rPr lang="en-US" altLang="ko-KR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Independency</a:t>
                  </a:r>
                  <a:r>
                    <a:rPr lang="en-US" altLang="ko-KR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of next state (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′</m:t>
                      </m:r>
                    </m:oMath>
                  </a14:m>
                  <a:r>
                    <a:rPr lang="en-US" altLang="ko-KR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 and waiting time (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𝜏</m:t>
                      </m:r>
                    </m:oMath>
                  </a14:m>
                  <a:r>
                    <a:rPr lang="en-US" altLang="ko-KR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B9D6D60-8FBD-F57E-BD50-509523AD4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487" y="3834116"/>
                  <a:ext cx="4606389" cy="343235"/>
                </a:xfrm>
                <a:prstGeom prst="rect">
                  <a:avLst/>
                </a:prstGeom>
                <a:blipFill>
                  <a:blip r:embed="rId11"/>
                  <a:stretch>
                    <a:fillRect l="-132" b="-17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C3EF75-64DA-8B72-2B03-7B3EF5A60718}"/>
                </a:ext>
              </a:extLst>
            </p:cNvPr>
            <p:cNvSpPr txBox="1"/>
            <p:nvPr/>
          </p:nvSpPr>
          <p:spPr>
            <a:xfrm>
              <a:off x="821351" y="4442722"/>
              <a:ext cx="4570482" cy="343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Or not, memoryless/Markovian property will be broken! </a:t>
              </a:r>
            </a:p>
          </p:txBody>
        </p: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EAD64A43-FED2-966B-12F7-83C4AEC92D2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0000" y="5048170"/>
              <a:ext cx="2228002" cy="43021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66CFAF8-CC89-7BB0-E1DF-BF8373B92876}"/>
                    </a:ext>
                  </a:extLst>
                </p:cNvPr>
                <p:cNvSpPr txBox="1"/>
                <p:nvPr/>
              </p:nvSpPr>
              <p:spPr>
                <a:xfrm>
                  <a:off x="4499992" y="5055222"/>
                  <a:ext cx="2449838" cy="3432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ko-KR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Long </a:t>
                  </a:r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𝜏</m:t>
                      </m:r>
                    </m:oMath>
                  </a14:m>
                  <a:r>
                    <a:rPr lang="en-US" altLang="ko-KR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ko-KR" sz="1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</m:oMath>
                  </a14:m>
                  <a:r>
                    <a:rPr lang="en-US" altLang="ko-KR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A is more probable</a:t>
                  </a:r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66CFAF8-CC89-7BB0-E1DF-BF8373B92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5055222"/>
                  <a:ext cx="2449838" cy="343235"/>
                </a:xfrm>
                <a:prstGeom prst="rect">
                  <a:avLst/>
                </a:prstGeom>
                <a:blipFill>
                  <a:blip r:embed="rId13"/>
                  <a:stretch>
                    <a:fillRect l="-746" b="-175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1A92662-8F5B-135D-193A-A2C675B9EAB9}"/>
              </a:ext>
            </a:extLst>
          </p:cNvPr>
          <p:cNvGrpSpPr/>
          <p:nvPr/>
        </p:nvGrpSpPr>
        <p:grpSpPr>
          <a:xfrm>
            <a:off x="6229395" y="2082617"/>
            <a:ext cx="2599239" cy="1801274"/>
            <a:chOff x="6300192" y="2098718"/>
            <a:chExt cx="2599239" cy="1801274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D6BDFC9-B50F-A6AA-1EF0-F240B5A7A9E0}"/>
                </a:ext>
              </a:extLst>
            </p:cNvPr>
            <p:cNvGrpSpPr/>
            <p:nvPr/>
          </p:nvGrpSpPr>
          <p:grpSpPr>
            <a:xfrm>
              <a:off x="6300192" y="2098718"/>
              <a:ext cx="2592288" cy="1801274"/>
              <a:chOff x="6300192" y="2346813"/>
              <a:chExt cx="2592288" cy="1801274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7911BBE3-A6B9-A9C7-9EDF-2E7731E5B234}"/>
                  </a:ext>
                </a:extLst>
              </p:cNvPr>
              <p:cNvGrpSpPr/>
              <p:nvPr/>
            </p:nvGrpSpPr>
            <p:grpSpPr>
              <a:xfrm>
                <a:off x="6300192" y="2346813"/>
                <a:ext cx="2592288" cy="1801274"/>
                <a:chOff x="6266961" y="2348880"/>
                <a:chExt cx="2592288" cy="1801274"/>
              </a:xfrm>
            </p:grpSpPr>
            <p:grpSp>
              <p:nvGrpSpPr>
                <p:cNvPr id="2" name="그룹 1">
                  <a:extLst>
                    <a:ext uri="{FF2B5EF4-FFF2-40B4-BE49-F238E27FC236}">
                      <a16:creationId xmlns:a16="http://schemas.microsoft.com/office/drawing/2014/main" id="{DFD9A2D2-89EC-0953-3E3B-4F008E43515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266961" y="2348880"/>
                  <a:ext cx="2592288" cy="1658333"/>
                  <a:chOff x="5543874" y="1268760"/>
                  <a:chExt cx="3314376" cy="2059851"/>
                </a:xfrm>
              </p:grpSpPr>
              <p:pic>
                <p:nvPicPr>
                  <p:cNvPr id="4" name="그림 3">
                    <a:extLst>
                      <a:ext uri="{FF2B5EF4-FFF2-40B4-BE49-F238E27FC236}">
                        <a16:creationId xmlns:a16="http://schemas.microsoft.com/office/drawing/2014/main" id="{11245A46-48D5-4B82-DC1D-5A6106F666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5868144" y="1268760"/>
                    <a:ext cx="2990106" cy="2059851"/>
                  </a:xfrm>
                  <a:prstGeom prst="rect">
                    <a:avLst/>
                  </a:prstGeom>
                </p:spPr>
              </p:pic>
              <p:pic>
                <p:nvPicPr>
                  <p:cNvPr id="5" name="그림 4">
                    <a:extLst>
                      <a:ext uri="{FF2B5EF4-FFF2-40B4-BE49-F238E27FC236}">
                        <a16:creationId xmlns:a16="http://schemas.microsoft.com/office/drawing/2014/main" id="{5A48113D-AB1F-D9E7-C938-A0BFFE28B71B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"/>
                    </p:custDataLst>
                  </p:nvPr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3874" y="1385692"/>
                    <a:ext cx="360237" cy="1194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" name="화살표: 왼쪽으로 구부러짐 2">
                  <a:extLst>
                    <a:ext uri="{FF2B5EF4-FFF2-40B4-BE49-F238E27FC236}">
                      <a16:creationId xmlns:a16="http://schemas.microsoft.com/office/drawing/2014/main" id="{B503B3A8-1671-8FDC-70D8-B63D5B530AAE}"/>
                    </a:ext>
                  </a:extLst>
                </p:cNvPr>
                <p:cNvSpPr/>
                <p:nvPr/>
              </p:nvSpPr>
              <p:spPr>
                <a:xfrm>
                  <a:off x="8175373" y="3862122"/>
                  <a:ext cx="216024" cy="288032"/>
                </a:xfrm>
                <a:prstGeom prst="curvedLeftArrow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화살표: 오른쪽으로 구부러짐 5">
                  <a:extLst>
                    <a:ext uri="{FF2B5EF4-FFF2-40B4-BE49-F238E27FC236}">
                      <a16:creationId xmlns:a16="http://schemas.microsoft.com/office/drawing/2014/main" id="{AE50FAC3-44A2-D375-57FB-827348E84D05}"/>
                    </a:ext>
                  </a:extLst>
                </p:cNvPr>
                <p:cNvSpPr/>
                <p:nvPr/>
              </p:nvSpPr>
              <p:spPr>
                <a:xfrm rot="10800000">
                  <a:off x="8175374" y="3237585"/>
                  <a:ext cx="207526" cy="652980"/>
                </a:xfrm>
                <a:prstGeom prst="curvedRightArrow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화살표: 오른쪽으로 구부러짐 8">
                  <a:extLst>
                    <a:ext uri="{FF2B5EF4-FFF2-40B4-BE49-F238E27FC236}">
                      <a16:creationId xmlns:a16="http://schemas.microsoft.com/office/drawing/2014/main" id="{975945E5-1B18-168C-2E42-971A1EE51676}"/>
                    </a:ext>
                  </a:extLst>
                </p:cNvPr>
                <p:cNvSpPr/>
                <p:nvPr/>
              </p:nvSpPr>
              <p:spPr>
                <a:xfrm rot="10800000">
                  <a:off x="8188120" y="2780928"/>
                  <a:ext cx="207526" cy="1110804"/>
                </a:xfrm>
                <a:prstGeom prst="curvedRightArrow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5EEA06F-0B9F-C8AA-A993-4786CDAAF052}"/>
                      </a:ext>
                    </a:extLst>
                  </p:cNvPr>
                  <p:cNvSpPr txBox="1"/>
                  <p:nvPr/>
                </p:nvSpPr>
                <p:spPr>
                  <a:xfrm>
                    <a:off x="8364862" y="3691678"/>
                    <a:ext cx="304892" cy="3123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oMath>
                      </m:oMathPara>
                    </a14:m>
                    <a:endParaRPr lang="en-US" altLang="ko-KR" sz="11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B5EEA06F-0B9F-C8AA-A993-4786CDAAF0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4862" y="3691678"/>
                    <a:ext cx="304892" cy="312393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0E76D-78D8-3D12-F3DB-C9757F9BA4D1}"/>
                      </a:ext>
                    </a:extLst>
                  </p:cNvPr>
                  <p:cNvSpPr txBox="1"/>
                  <p:nvPr/>
                </p:nvSpPr>
                <p:spPr>
                  <a:xfrm>
                    <a:off x="7923660" y="2588760"/>
                    <a:ext cx="341760" cy="3123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>
                      <a:lnSpc>
                        <a:spcPct val="13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n-US" altLang="ko-KR" sz="11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oMath>
                      </m:oMathPara>
                    </a14:m>
                    <a:endParaRPr lang="en-US" altLang="ko-KR" sz="11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D140E76D-78D8-3D12-F3DB-C9757F9BA4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3660" y="2588760"/>
                    <a:ext cx="341760" cy="312393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BA32AD0-5F9E-F8BD-C42E-7EAFF1B2B189}"/>
                    </a:ext>
                  </a:extLst>
                </p:cNvPr>
                <p:cNvSpPr txBox="1"/>
                <p:nvPr/>
              </p:nvSpPr>
              <p:spPr>
                <a:xfrm>
                  <a:off x="8364862" y="2608178"/>
                  <a:ext cx="534569" cy="3724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𝑥𝑥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b>
                        </m:sSub>
                      </m:oMath>
                    </m:oMathPara>
                  </a14:m>
                  <a:endPara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BA32AD0-5F9E-F8BD-C42E-7EAFF1B2B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4862" y="2608178"/>
                  <a:ext cx="534569" cy="3724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00C5DAD-72F1-438A-C128-CB9A70DB1031}"/>
                  </a:ext>
                </a:extLst>
              </p:cNvPr>
              <p:cNvSpPr txBox="1"/>
              <p:nvPr/>
            </p:nvSpPr>
            <p:spPr>
              <a:xfrm>
                <a:off x="1529782" y="5877941"/>
                <a:ext cx="5696046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(With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𝑥𝑥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b>
                        </m:sSub>
                      </m:e>
                    </m:nary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US" altLang="ko-K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𝝀</m:t>
                    </m:r>
                    <m:d>
                      <m:dPr>
                        <m:ctrlPr>
                          <a:rPr lang="en-US" altLang="ko-K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ko-KR" sz="1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US" altLang="ko-KR" sz="1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{</m:t>
                        </m:r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𝒙𝒙</m:t>
                        </m:r>
                        <m:r>
                          <a:rPr lang="en-US" altLang="ko-KR" sz="1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  <m:r>
                      <a:rPr lang="en-US" altLang="ko-KR" sz="1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ko-K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determines CTMC uniquely!</a:t>
                </a: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00C5DAD-72F1-438A-C128-CB9A70DB1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782" y="5877941"/>
                <a:ext cx="5696046" cy="343235"/>
              </a:xfrm>
              <a:prstGeom prst="rect">
                <a:avLst/>
              </a:prstGeom>
              <a:blipFill>
                <a:blip r:embed="rId19"/>
                <a:stretch>
                  <a:fillRect l="-214" t="-78947" b="-142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74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  <p:bldP spid="35" grpId="0"/>
      <p:bldP spid="7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2600A-7821-A115-977F-974F9FB5D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75EE29B-467A-8490-9557-7A05BF5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CTMC</a:t>
            </a:r>
            <a:endParaRPr lang="ko-KR" alt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95951B-33EB-FB1F-EBA2-48D1BA0713F5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3260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Define a CTMC ‘uniquely’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293C46-97D7-AA87-4A4C-9E22D94BB8F9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b="10327"/>
          <a:stretch>
            <a:fillRect/>
          </a:stretch>
        </p:blipFill>
        <p:spPr>
          <a:xfrm>
            <a:off x="-180528" y="2420888"/>
            <a:ext cx="5519201" cy="3305593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33560E98-5F11-0B71-3894-AE1DD7A3A682}"/>
              </a:ext>
            </a:extLst>
          </p:cNvPr>
          <p:cNvGrpSpPr/>
          <p:nvPr/>
        </p:nvGrpSpPr>
        <p:grpSpPr>
          <a:xfrm>
            <a:off x="2579072" y="3253004"/>
            <a:ext cx="6132652" cy="2870885"/>
            <a:chOff x="2579072" y="3253004"/>
            <a:chExt cx="6132652" cy="287088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7F6515-F249-35A5-1516-2EDDB232791D}"/>
                </a:ext>
              </a:extLst>
            </p:cNvPr>
            <p:cNvSpPr txBox="1"/>
            <p:nvPr/>
          </p:nvSpPr>
          <p:spPr>
            <a:xfrm>
              <a:off x="5494717" y="4134862"/>
              <a:ext cx="1965603" cy="379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2. Where to jump?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E0343B72-ADF9-B3F2-B6B3-353277CBAC4F}"/>
                </a:ext>
              </a:extLst>
            </p:cNvPr>
            <p:cNvGrpSpPr/>
            <p:nvPr/>
          </p:nvGrpSpPr>
          <p:grpSpPr>
            <a:xfrm>
              <a:off x="2579072" y="3253004"/>
              <a:ext cx="1497068" cy="1473041"/>
              <a:chOff x="2579072" y="3253004"/>
              <a:chExt cx="1497068" cy="1473041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CD033919-A0EC-EE55-F43A-0A56AD6A18E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499" y="3253004"/>
                <a:ext cx="294858" cy="144000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7B5288AC-5C72-980F-6027-92E0110EFD9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6949" y="4582045"/>
                <a:ext cx="301714" cy="144000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33FF8DC4-9F4F-D82F-F07B-F736FBAA3B9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9912" y="4438045"/>
                <a:ext cx="296228" cy="1440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2D626A29-1943-94C1-B431-9925CAB3B96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9072" y="3263092"/>
                <a:ext cx="294858" cy="144000"/>
              </a:xfrm>
              <a:prstGeom prst="rect">
                <a:avLst/>
              </a:prstGeom>
            </p:spPr>
          </p:pic>
        </p:grpSp>
        <p:pic>
          <p:nvPicPr>
            <p:cNvPr id="57" name="그림 56" descr="Dice Icon | Endless Icons">
              <a:extLst>
                <a:ext uri="{FF2B5EF4-FFF2-40B4-BE49-F238E27FC236}">
                  <a16:creationId xmlns:a16="http://schemas.microsoft.com/office/drawing/2014/main" id="{FF4BB395-BD73-1E70-E5E7-EC31E4727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rcRect l="30022" t="20264" r="25977" b="20876"/>
            <a:stretch>
              <a:fillRect/>
            </a:stretch>
          </p:blipFill>
          <p:spPr>
            <a:xfrm>
              <a:off x="5192562" y="5187785"/>
              <a:ext cx="936104" cy="936104"/>
            </a:xfrm>
            <a:prstGeom prst="rect">
              <a:avLst/>
            </a:prstGeom>
          </p:spPr>
        </p:pic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862AD944-1565-5BCD-757A-88DB3C626390}"/>
                </a:ext>
              </a:extLst>
            </p:cNvPr>
            <p:cNvGrpSpPr/>
            <p:nvPr/>
          </p:nvGrpSpPr>
          <p:grpSpPr>
            <a:xfrm>
              <a:off x="6373835" y="5410535"/>
              <a:ext cx="2337889" cy="582162"/>
              <a:chOff x="6410575" y="5209810"/>
              <a:chExt cx="2337889" cy="582162"/>
            </a:xfrm>
          </p:grpSpPr>
          <p:cxnSp>
            <p:nvCxnSpPr>
              <p:cNvPr id="59" name="직선 화살표 연결선 58">
                <a:extLst>
                  <a:ext uri="{FF2B5EF4-FFF2-40B4-BE49-F238E27FC236}">
                    <a16:creationId xmlns:a16="http://schemas.microsoft.com/office/drawing/2014/main" id="{BFBA8D9A-423C-7F25-A874-F4A60BDFE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518" y="5445224"/>
                <a:ext cx="2270946" cy="0"/>
              </a:xfrm>
              <a:prstGeom prst="straightConnector1">
                <a:avLst/>
              </a:prstGeom>
              <a:ln w="1270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09770BC-1E3D-7D2C-E861-5F37FD231C91}"/>
                  </a:ext>
                </a:extLst>
              </p:cNvPr>
              <p:cNvCxnSpPr/>
              <p:nvPr/>
            </p:nvCxnSpPr>
            <p:spPr>
              <a:xfrm>
                <a:off x="6456440" y="5340304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3838F926-34AE-55C5-E7B6-E5670086FFB0}"/>
                  </a:ext>
                </a:extLst>
              </p:cNvPr>
              <p:cNvCxnSpPr/>
              <p:nvPr/>
            </p:nvCxnSpPr>
            <p:spPr>
              <a:xfrm>
                <a:off x="8491117" y="5340300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A2AD0B01-152D-94BD-AA86-5197B07153C0}"/>
                  </a:ext>
                </a:extLst>
              </p:cNvPr>
              <p:cNvCxnSpPr/>
              <p:nvPr/>
            </p:nvCxnSpPr>
            <p:spPr>
              <a:xfrm>
                <a:off x="6804248" y="5340304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2547665C-FC8D-05D4-1DD3-59019ABB25CA}"/>
                  </a:ext>
                </a:extLst>
              </p:cNvPr>
              <p:cNvCxnSpPr/>
              <p:nvPr/>
            </p:nvCxnSpPr>
            <p:spPr>
              <a:xfrm>
                <a:off x="7460320" y="5340300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D48B0829-25E2-827B-D487-44392FDC2CAC}"/>
                  </a:ext>
                </a:extLst>
              </p:cNvPr>
              <p:cNvCxnSpPr/>
              <p:nvPr/>
            </p:nvCxnSpPr>
            <p:spPr>
              <a:xfrm>
                <a:off x="8100392" y="5340300"/>
                <a:ext cx="0" cy="209840"/>
              </a:xfrm>
              <a:prstGeom prst="line">
                <a:avLst/>
              </a:prstGeom>
              <a:ln w="12700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8" name="그림 67">
                <a:extLst>
                  <a:ext uri="{FF2B5EF4-FFF2-40B4-BE49-F238E27FC236}">
                    <a16:creationId xmlns:a16="http://schemas.microsoft.com/office/drawing/2014/main" id="{F37708C1-419D-FD0C-AEA5-6C1F0D62874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00935" y="5214607"/>
                <a:ext cx="242026" cy="118197"/>
              </a:xfrm>
              <a:prstGeom prst="rect">
                <a:avLst/>
              </a:prstGeom>
            </p:spPr>
          </p:pic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D6605C21-A814-3FF9-D605-076F2E635F6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8124" y="5209810"/>
                <a:ext cx="261672" cy="127790"/>
              </a:xfrm>
              <a:prstGeom prst="rect">
                <a:avLst/>
              </a:prstGeom>
            </p:spPr>
          </p:pic>
          <p:pic>
            <p:nvPicPr>
              <p:cNvPr id="73" name="그림 72">
                <a:extLst>
                  <a:ext uri="{FF2B5EF4-FFF2-40B4-BE49-F238E27FC236}">
                    <a16:creationId xmlns:a16="http://schemas.microsoft.com/office/drawing/2014/main" id="{C24CB07F-7090-DD36-D967-0EAD9A98932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9466" y="5209810"/>
                <a:ext cx="262885" cy="127790"/>
              </a:xfrm>
              <a:prstGeom prst="rect">
                <a:avLst/>
              </a:prstGeom>
            </p:spPr>
          </p:pic>
          <p:pic>
            <p:nvPicPr>
              <p:cNvPr id="76" name="그림 75">
                <a:extLst>
                  <a:ext uri="{FF2B5EF4-FFF2-40B4-BE49-F238E27FC236}">
                    <a16:creationId xmlns:a16="http://schemas.microsoft.com/office/drawing/2014/main" id="{A7B5AC17-D5D5-6E75-7FAE-F5DC58E6FD1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61877" y="5213982"/>
                <a:ext cx="267757" cy="127790"/>
              </a:xfrm>
              <a:prstGeom prst="rect">
                <a:avLst/>
              </a:prstGeom>
            </p:spPr>
          </p:pic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156ED4C0-AD13-2E6F-FDC9-9C46187EA95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54942" y="5649858"/>
                <a:ext cx="72350" cy="142114"/>
              </a:xfrm>
              <a:prstGeom prst="rect">
                <a:avLst/>
              </a:prstGeom>
            </p:spPr>
          </p:pic>
          <p:pic>
            <p:nvPicPr>
              <p:cNvPr id="84" name="그림 83">
                <a:extLst>
                  <a:ext uri="{FF2B5EF4-FFF2-40B4-BE49-F238E27FC236}">
                    <a16:creationId xmlns:a16="http://schemas.microsoft.com/office/drawing/2014/main" id="{0BA5152B-653D-D3B7-F137-5C2A2156C9C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0575" y="5642649"/>
                <a:ext cx="91728" cy="147282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4241D69-E3C7-78DD-AEBB-09BD9C8CC19E}"/>
                    </a:ext>
                  </a:extLst>
                </p:cNvPr>
                <p:cNvSpPr txBox="1"/>
                <p:nvPr/>
              </p:nvSpPr>
              <p:spPr>
                <a:xfrm>
                  <a:off x="6016688" y="4753970"/>
                  <a:ext cx="2385781" cy="3432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ko-KR" sz="140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‘</a:t>
                  </a:r>
                  <a:r>
                    <a:rPr lang="en-US" altLang="ko-KR" sz="14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transition probability</a:t>
                  </a:r>
                  <a:r>
                    <a:rPr lang="en-US" altLang="ko-KR" sz="140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’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𝑥𝑥</m:t>
                          </m:r>
                          <m:r>
                            <a:rPr lang="en-US" altLang="ko-KR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b>
                      </m:sSub>
                    </m:oMath>
                  </a14:m>
                  <a:endParaRPr lang="en-US" altLang="ko-KR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4241D69-E3C7-78DD-AEBB-09BD9C8CC1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688" y="4753970"/>
                  <a:ext cx="2385781" cy="343235"/>
                </a:xfrm>
                <a:prstGeom prst="rect">
                  <a:avLst/>
                </a:prstGeom>
                <a:blipFill>
                  <a:blip r:embed="rId24"/>
                  <a:stretch>
                    <a:fillRect l="-767" b="-17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4D5857-1CD7-DB27-BCBA-8514A26255B0}"/>
              </a:ext>
            </a:extLst>
          </p:cNvPr>
          <p:cNvGrpSpPr/>
          <p:nvPr/>
        </p:nvGrpSpPr>
        <p:grpSpPr>
          <a:xfrm>
            <a:off x="3537168" y="1305873"/>
            <a:ext cx="5122188" cy="2800437"/>
            <a:chOff x="3537168" y="1305873"/>
            <a:chExt cx="5122188" cy="280043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D5AD2F5-AB58-0D1B-B1F7-D85FF7809D47}"/>
                </a:ext>
              </a:extLst>
            </p:cNvPr>
            <p:cNvSpPr txBox="1"/>
            <p:nvPr/>
          </p:nvSpPr>
          <p:spPr>
            <a:xfrm>
              <a:off x="5492441" y="1305873"/>
              <a:ext cx="1896673" cy="379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1. When to jump?</a:t>
              </a:r>
            </a:p>
          </p:txBody>
        </p:sp>
        <p:pic>
          <p:nvPicPr>
            <p:cNvPr id="2" name="그림 1" descr="회중 시계 라인 아이콘 벡터 일러스트 | AI 무료 다운로드 - Pikbest">
              <a:extLst>
                <a:ext uri="{FF2B5EF4-FFF2-40B4-BE49-F238E27FC236}">
                  <a16:creationId xmlns:a16="http://schemas.microsoft.com/office/drawing/2014/main" id="{0178FA1F-8E75-65B5-DCD5-6F7DA14C7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113228" y="2560264"/>
              <a:ext cx="1040604" cy="1040604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DD943D5A-B9DE-33B0-F1FA-9281E9788DD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7168" y="3877281"/>
              <a:ext cx="390858" cy="229029"/>
            </a:xfrm>
            <a:prstGeom prst="rect">
              <a:avLst/>
            </a:prstGeom>
          </p:spPr>
        </p:pic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A5B640B-98EF-8504-C554-B6630D557818}"/>
                </a:ext>
              </a:extLst>
            </p:cNvPr>
            <p:cNvGrpSpPr/>
            <p:nvPr/>
          </p:nvGrpSpPr>
          <p:grpSpPr>
            <a:xfrm>
              <a:off x="6486676" y="2331640"/>
              <a:ext cx="2172680" cy="1519786"/>
              <a:chOff x="6456440" y="2764254"/>
              <a:chExt cx="2172680" cy="1519786"/>
            </a:xfrm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DE311C07-0540-B5ED-A0DE-4B8B57B20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rcRect l="6657" t="14315" b="12674"/>
              <a:stretch>
                <a:fillRect/>
              </a:stretch>
            </p:blipFill>
            <p:spPr>
              <a:xfrm>
                <a:off x="6456440" y="2924476"/>
                <a:ext cx="2172680" cy="1359564"/>
              </a:xfrm>
              <a:prstGeom prst="rect">
                <a:avLst/>
              </a:prstGeom>
            </p:spPr>
          </p:pic>
          <p:pic>
            <p:nvPicPr>
              <p:cNvPr id="44" name="그림 43">
                <a:extLst>
                  <a:ext uri="{FF2B5EF4-FFF2-40B4-BE49-F238E27FC236}">
                    <a16:creationId xmlns:a16="http://schemas.microsoft.com/office/drawing/2014/main" id="{993284A7-445E-8B36-B8A6-947D0A141F2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94443" y="2764254"/>
                <a:ext cx="1896674" cy="175732"/>
              </a:xfrm>
              <a:prstGeom prst="rect">
                <a:avLst/>
              </a:prstGeom>
            </p:spPr>
          </p:pic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044E243-F7BE-FCE2-E9BD-E6B6B1A29CF1}"/>
                </a:ext>
              </a:extLst>
            </p:cNvPr>
            <p:cNvGrpSpPr/>
            <p:nvPr/>
          </p:nvGrpSpPr>
          <p:grpSpPr>
            <a:xfrm>
              <a:off x="7379470" y="2564338"/>
              <a:ext cx="111086" cy="1388574"/>
              <a:chOff x="7349234" y="2996952"/>
              <a:chExt cx="111086" cy="1388574"/>
            </a:xfrm>
          </p:grpSpPr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D1DE9556-BB0F-2DE8-C20C-6672A002ABAB}"/>
                  </a:ext>
                </a:extLst>
              </p:cNvPr>
              <p:cNvCxnSpPr/>
              <p:nvPr/>
            </p:nvCxnSpPr>
            <p:spPr>
              <a:xfrm>
                <a:off x="7404777" y="2996952"/>
                <a:ext cx="0" cy="1127608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4" name="그림 53">
                <a:extLst>
                  <a:ext uri="{FF2B5EF4-FFF2-40B4-BE49-F238E27FC236}">
                    <a16:creationId xmlns:a16="http://schemas.microsoft.com/office/drawing/2014/main" id="{7F7F54EE-2008-CCB6-DB06-0EA76CD3B23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49234" y="4284040"/>
                <a:ext cx="111086" cy="101486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1CC5025-331D-BC6C-E115-038D58DB1C35}"/>
                    </a:ext>
                  </a:extLst>
                </p:cNvPr>
                <p:cNvSpPr txBox="1"/>
                <p:nvPr/>
              </p:nvSpPr>
              <p:spPr>
                <a:xfrm>
                  <a:off x="6415883" y="1806455"/>
                  <a:ext cx="1459310" cy="3432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ko-KR" sz="140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‘</a:t>
                  </a:r>
                  <a:r>
                    <a:rPr lang="en-US" altLang="ko-KR" sz="14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jump rate</a:t>
                  </a:r>
                  <a:r>
                    <a:rPr lang="en-US" altLang="ko-KR" sz="140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’ </a:t>
                  </a:r>
                  <a14:m>
                    <m:oMath xmlns:m="http://schemas.openxmlformats.org/officeDocument/2006/math">
                      <m:r>
                        <a:rPr lang="en-US" altLang="ko-KR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𝜆</m:t>
                      </m:r>
                      <m:r>
                        <a:rPr lang="en-US" altLang="ko-KR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ko-KR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ko-KR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en-US" altLang="ko-KR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1CC5025-331D-BC6C-E115-038D58DB1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5883" y="1806455"/>
                  <a:ext cx="1459310" cy="343235"/>
                </a:xfrm>
                <a:prstGeom prst="rect">
                  <a:avLst/>
                </a:prstGeom>
                <a:blipFill>
                  <a:blip r:embed="rId30"/>
                  <a:stretch>
                    <a:fillRect l="-1250" b="-175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2862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10B4-F1FA-7445-46DE-7343DBB9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2F3A62D2-DA74-0FAB-8BCA-3F3A45AC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Definition</a:t>
            </a:r>
            <a:r>
              <a:rPr lang="ko-KR" altLang="en-US" sz="2800" dirty="0"/>
              <a:t> </a:t>
            </a:r>
            <a:r>
              <a:rPr lang="en-US" altLang="ko-KR" sz="2800" dirty="0"/>
              <a:t>of</a:t>
            </a:r>
            <a:r>
              <a:rPr lang="ko-KR" altLang="en-US" sz="2800" dirty="0"/>
              <a:t> </a:t>
            </a:r>
            <a:r>
              <a:rPr lang="en-US" altLang="ko-KR" sz="2800" dirty="0"/>
              <a:t>CTMC</a:t>
            </a:r>
            <a:endParaRPr lang="ko-KR" altLang="en-US" sz="28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4C94F0-A392-E3AC-7ABD-C001E828E92F}"/>
              </a:ext>
            </a:extLst>
          </p:cNvPr>
          <p:cNvSpPr txBox="1"/>
          <p:nvPr/>
        </p:nvSpPr>
        <p:spPr>
          <a:xfrm>
            <a:off x="5779229" y="1129510"/>
            <a:ext cx="189667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1. When to jump?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18A0A8-60DF-BBDB-5CCD-E5505C19FFEB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3730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Determine a CTMC ‘uniquely’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F1655B-D61A-6C2D-BEA1-98C6D61E5E85}"/>
              </a:ext>
            </a:extLst>
          </p:cNvPr>
          <p:cNvSpPr txBox="1"/>
          <p:nvPr/>
        </p:nvSpPr>
        <p:spPr>
          <a:xfrm>
            <a:off x="5781505" y="1993606"/>
            <a:ext cx="196560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2. Where to jump?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CF85271-765A-1FC8-7353-7B51986DFBC2}"/>
              </a:ext>
            </a:extLst>
          </p:cNvPr>
          <p:cNvGrpSpPr/>
          <p:nvPr/>
        </p:nvGrpSpPr>
        <p:grpSpPr>
          <a:xfrm>
            <a:off x="-180528" y="2420888"/>
            <a:ext cx="5519201" cy="3305593"/>
            <a:chOff x="-180528" y="2420888"/>
            <a:chExt cx="5519201" cy="330559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F92AEB3-6B6D-A929-135E-722712536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10327"/>
            <a:stretch>
              <a:fillRect/>
            </a:stretch>
          </p:blipFill>
          <p:spPr>
            <a:xfrm>
              <a:off x="-180528" y="2420888"/>
              <a:ext cx="5519201" cy="3305593"/>
            </a:xfrm>
            <a:prstGeom prst="rect">
              <a:avLst/>
            </a:prstGeom>
          </p:spPr>
        </p:pic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D3DA071-586F-5D5C-B3EF-E99D8046780F}"/>
                </a:ext>
              </a:extLst>
            </p:cNvPr>
            <p:cNvGrpSpPr/>
            <p:nvPr/>
          </p:nvGrpSpPr>
          <p:grpSpPr>
            <a:xfrm>
              <a:off x="2579072" y="3253004"/>
              <a:ext cx="1497068" cy="1473041"/>
              <a:chOff x="2579072" y="3253004"/>
              <a:chExt cx="1497068" cy="1473041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F4648110-6B75-AE24-41FC-02439B0C05B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499" y="3253004"/>
                <a:ext cx="294858" cy="144000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68A59FB9-DA98-CFA6-3DDF-B5B72C80658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6949" y="4582045"/>
                <a:ext cx="301714" cy="144000"/>
              </a:xfrm>
              <a:prstGeom prst="rect">
                <a:avLst/>
              </a:prstGeom>
            </p:spPr>
          </p:pic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974AEAB9-3E48-E9A5-072B-0FE0F58241B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9912" y="4438045"/>
                <a:ext cx="296228" cy="144000"/>
              </a:xfrm>
              <a:prstGeom prst="rect">
                <a:avLst/>
              </a:prstGeom>
            </p:spPr>
          </p:pic>
          <p:pic>
            <p:nvPicPr>
              <p:cNvPr id="26" name="그림 25">
                <a:extLst>
                  <a:ext uri="{FF2B5EF4-FFF2-40B4-BE49-F238E27FC236}">
                    <a16:creationId xmlns:a16="http://schemas.microsoft.com/office/drawing/2014/main" id="{1F42B0A8-2656-D934-B9CA-F49350AC101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9072" y="3263092"/>
                <a:ext cx="294858" cy="144000"/>
              </a:xfrm>
              <a:prstGeom prst="rect">
                <a:avLst/>
              </a:prstGeom>
            </p:spPr>
          </p:pic>
        </p:grp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EF399121-A842-7A4E-EA5F-C0F6732835C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2844" y="3917525"/>
              <a:ext cx="390858" cy="2290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75B1058-2EF1-9112-CA82-AD584B4693E3}"/>
                  </a:ext>
                </a:extLst>
              </p:cNvPr>
              <p:cNvSpPr txBox="1"/>
              <p:nvPr/>
            </p:nvSpPr>
            <p:spPr>
              <a:xfrm>
                <a:off x="6702671" y="1561558"/>
                <a:ext cx="1398396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‘jump rate’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𝜆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75B1058-2EF1-9112-CA82-AD584B469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671" y="1561558"/>
                <a:ext cx="1398396" cy="343235"/>
              </a:xfrm>
              <a:prstGeom prst="rect">
                <a:avLst/>
              </a:prstGeom>
              <a:blipFill>
                <a:blip r:embed="rId22"/>
                <a:stretch>
                  <a:fillRect l="-1310" b="-196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AEF7287-32B4-809E-5FF5-B16DA61E0AEE}"/>
                  </a:ext>
                </a:extLst>
              </p:cNvPr>
              <p:cNvSpPr txBox="1"/>
              <p:nvPr/>
            </p:nvSpPr>
            <p:spPr>
              <a:xfrm>
                <a:off x="6303476" y="2425654"/>
                <a:ext cx="2199833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‘transition probability’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𝑥𝑥</m:t>
                        </m:r>
                        <m:r>
                          <a:rPr lang="en-US" altLang="ko-KR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</m:oMath>
                </a14:m>
                <a:endParaRPr lang="en-US" altLang="ko-KR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AEF7287-32B4-809E-5FF5-B16DA61E0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476" y="2425654"/>
                <a:ext cx="2199833" cy="343235"/>
              </a:xfrm>
              <a:prstGeom prst="rect">
                <a:avLst/>
              </a:prstGeom>
              <a:blipFill>
                <a:blip r:embed="rId23"/>
                <a:stretch>
                  <a:fillRect l="-831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B825BC-70AD-155F-3A1A-772CEF8FE7E1}"/>
                  </a:ext>
                </a:extLst>
              </p:cNvPr>
              <p:cNvSpPr txBox="1"/>
              <p:nvPr/>
            </p:nvSpPr>
            <p:spPr>
              <a:xfrm>
                <a:off x="6231236" y="3356992"/>
                <a:ext cx="1840760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‘</a:t>
                </a:r>
                <a:r>
                  <a:rPr lang="en-US" altLang="ko-KR" sz="1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Transition rate</a:t>
                </a:r>
                <a:r>
                  <a:rPr lang="en-US" altLang="ko-KR" sz="1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𝑥𝑥</m:t>
                        </m:r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</m:oMath>
                </a14:m>
                <a:endParaRPr lang="en-US" altLang="ko-KR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B825BC-70AD-155F-3A1A-772CEF8FE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236" y="3356992"/>
                <a:ext cx="1840760" cy="343235"/>
              </a:xfrm>
              <a:prstGeom prst="rect">
                <a:avLst/>
              </a:prstGeom>
              <a:blipFill>
                <a:blip r:embed="rId24"/>
                <a:stretch>
                  <a:fillRect l="-993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4035EA18-DAC9-86F6-E06F-B25435F2C0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823" y="3929646"/>
            <a:ext cx="1544225" cy="229029"/>
          </a:xfrm>
          <a:prstGeom prst="rect">
            <a:avLst/>
          </a:prstGeom>
        </p:spPr>
      </p:pic>
      <p:grpSp>
        <p:nvGrpSpPr>
          <p:cNvPr id="75" name="그룹 74">
            <a:extLst>
              <a:ext uri="{FF2B5EF4-FFF2-40B4-BE49-F238E27FC236}">
                <a16:creationId xmlns:a16="http://schemas.microsoft.com/office/drawing/2014/main" id="{A4B4A66C-B338-24DD-3F1B-0D36C0A409CA}"/>
              </a:ext>
            </a:extLst>
          </p:cNvPr>
          <p:cNvGrpSpPr/>
          <p:nvPr/>
        </p:nvGrpSpPr>
        <p:grpSpPr>
          <a:xfrm>
            <a:off x="0" y="2357036"/>
            <a:ext cx="5519201" cy="3305593"/>
            <a:chOff x="7308304" y="2228546"/>
            <a:chExt cx="5519201" cy="3305593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EC0A269-252D-3348-EB34-AB4051B53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10327"/>
            <a:stretch>
              <a:fillRect/>
            </a:stretch>
          </p:blipFill>
          <p:spPr>
            <a:xfrm>
              <a:off x="7308304" y="2228546"/>
              <a:ext cx="5519201" cy="3305593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39D14CD-8133-03D5-507D-CF9E285E1A26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10067904" y="3060662"/>
              <a:ext cx="1466897" cy="1473041"/>
              <a:chOff x="10067904" y="3060662"/>
              <a:chExt cx="1466897" cy="1473041"/>
            </a:xfrm>
          </p:grpSpPr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ABC9FE8A-BF79-9814-18DB-930A5F2AA26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78331" y="3060662"/>
                <a:ext cx="264687" cy="144000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FC4A3DCD-C89C-5612-BAFA-B278D07A3E4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95782" y="4389703"/>
                <a:ext cx="271543" cy="144000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71" name="그림 70">
                <a:extLst>
                  <a:ext uri="{FF2B5EF4-FFF2-40B4-BE49-F238E27FC236}">
                    <a16:creationId xmlns:a16="http://schemas.microsoft.com/office/drawing/2014/main" id="{1A69ED79-3B78-7913-FA90-FFA9D3F67B4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68744" y="4245703"/>
                <a:ext cx="266057" cy="144000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24C2181D-3791-8E1D-1149-B4D24B3971F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67904" y="3070750"/>
                <a:ext cx="264687" cy="144000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26C9C723-B719-2467-22EF-5D779DC325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068" y="5635019"/>
            <a:ext cx="2740216" cy="40100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8E1F30F-063F-0D6E-4D92-46B3A25E7F9D}"/>
              </a:ext>
            </a:extLst>
          </p:cNvPr>
          <p:cNvSpPr txBox="1"/>
          <p:nvPr/>
        </p:nvSpPr>
        <p:spPr>
          <a:xfrm>
            <a:off x="5338673" y="5176571"/>
            <a:ext cx="3619645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Transition rate fully characterize CTMC!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788A6A1-3820-4733-CD48-396DD41460C6}"/>
                  </a:ext>
                </a:extLst>
              </p:cNvPr>
              <p:cNvSpPr txBox="1"/>
              <p:nvPr/>
            </p:nvSpPr>
            <p:spPr>
              <a:xfrm>
                <a:off x="5319663" y="4437112"/>
                <a:ext cx="3652731" cy="343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ko-KR" sz="1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′|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)≈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𝝀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altLang="ko-KR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sSub>
                      <m:sSubPr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</m:e>
                      <m:sub>
                        <m:r>
                          <a:rPr lang="en-US" altLang="ko-K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𝒙𝒙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1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788A6A1-3820-4733-CD48-396DD4146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663" y="4437112"/>
                <a:ext cx="3652731" cy="343235"/>
              </a:xfrm>
              <a:prstGeom prst="rect">
                <a:avLst/>
              </a:prstGeom>
              <a:blipFill>
                <a:blip r:embed="rId31"/>
                <a:stretch>
                  <a:fillRect l="-334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1EE3BF9C-2606-36A7-23BA-187E39479107}"/>
              </a:ext>
            </a:extLst>
          </p:cNvPr>
          <p:cNvSpPr txBox="1"/>
          <p:nvPr/>
        </p:nvSpPr>
        <p:spPr>
          <a:xfrm>
            <a:off x="7769908" y="4751328"/>
            <a:ext cx="1239442" cy="307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(independency)</a:t>
            </a:r>
          </a:p>
        </p:txBody>
      </p:sp>
    </p:spTree>
    <p:extLst>
      <p:ext uri="{BB962C8B-B14F-4D97-AF65-F5344CB8AC3E}">
        <p14:creationId xmlns:p14="http://schemas.microsoft.com/office/powerpoint/2010/main" val="202142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7" grpId="0"/>
      <p:bldP spid="81" grpId="0"/>
      <p:bldP spid="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F8C4-98DB-AF65-841E-A15DDEBE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D68014E-8333-9AEA-CFBA-D40694FF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Simulation: Gillespie’s algorithm</a:t>
            </a:r>
            <a:endParaRPr lang="ko-KR" altLang="en-US" sz="28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704888B-5332-49C2-D9D4-0A4A26DA75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09" y="1782028"/>
            <a:ext cx="6338308" cy="4153003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C471AC-DF44-F5B9-21C3-AA34711D7B51}"/>
              </a:ext>
            </a:extLst>
          </p:cNvPr>
          <p:cNvGrpSpPr/>
          <p:nvPr/>
        </p:nvGrpSpPr>
        <p:grpSpPr>
          <a:xfrm>
            <a:off x="6748335" y="5513091"/>
            <a:ext cx="2337889" cy="582162"/>
            <a:chOff x="6410575" y="5209810"/>
            <a:chExt cx="2337889" cy="582162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96260C3-43A4-7204-30EF-B767ABF25C20}"/>
                </a:ext>
              </a:extLst>
            </p:cNvPr>
            <p:cNvCxnSpPr>
              <a:cxnSpLocks/>
            </p:cNvCxnSpPr>
            <p:nvPr/>
          </p:nvCxnSpPr>
          <p:spPr>
            <a:xfrm>
              <a:off x="6477518" y="5445224"/>
              <a:ext cx="2270946" cy="0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68E5564-2E92-2C15-894B-CEB61019CD76}"/>
                </a:ext>
              </a:extLst>
            </p:cNvPr>
            <p:cNvCxnSpPr/>
            <p:nvPr/>
          </p:nvCxnSpPr>
          <p:spPr>
            <a:xfrm>
              <a:off x="6456440" y="5340304"/>
              <a:ext cx="0" cy="2098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83A4D44-36EF-8A11-ADB9-C1A59347F02B}"/>
                </a:ext>
              </a:extLst>
            </p:cNvPr>
            <p:cNvCxnSpPr/>
            <p:nvPr/>
          </p:nvCxnSpPr>
          <p:spPr>
            <a:xfrm>
              <a:off x="8491117" y="5340300"/>
              <a:ext cx="0" cy="2098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B8D6CEE-08DD-44CF-2734-1059D0FEA888}"/>
                </a:ext>
              </a:extLst>
            </p:cNvPr>
            <p:cNvCxnSpPr/>
            <p:nvPr/>
          </p:nvCxnSpPr>
          <p:spPr>
            <a:xfrm>
              <a:off x="6804248" y="5340304"/>
              <a:ext cx="0" cy="2098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67ADADD-FCA7-1450-6BB1-BB1E679E0FA8}"/>
                </a:ext>
              </a:extLst>
            </p:cNvPr>
            <p:cNvCxnSpPr/>
            <p:nvPr/>
          </p:nvCxnSpPr>
          <p:spPr>
            <a:xfrm>
              <a:off x="7460320" y="5340300"/>
              <a:ext cx="0" cy="2098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F6FE2B-BE82-EABD-8373-9E7AF4E8B8BE}"/>
                </a:ext>
              </a:extLst>
            </p:cNvPr>
            <p:cNvCxnSpPr/>
            <p:nvPr/>
          </p:nvCxnSpPr>
          <p:spPr>
            <a:xfrm>
              <a:off x="8100392" y="5340300"/>
              <a:ext cx="0" cy="2098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BD08D2C-A725-A018-F963-66F29D8FC5D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0935" y="5214607"/>
              <a:ext cx="242026" cy="118197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CB9CB1EF-A6C3-4EA4-E5D0-BBA4FD84BB3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8124" y="5209810"/>
              <a:ext cx="261672" cy="12779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ECADB19-C248-CBCE-D620-A3B31E91E35D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9466" y="5209810"/>
              <a:ext cx="262885" cy="127790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DF5A68B-2354-7A8C-73AA-D05B6C8E37C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877" y="5213982"/>
              <a:ext cx="267757" cy="12779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E885001-3BAF-5617-BA92-B5794F22653C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4942" y="5649858"/>
              <a:ext cx="72350" cy="142114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B1A9364F-5D11-26F8-5AA1-2BED18DA022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0575" y="5642649"/>
              <a:ext cx="91728" cy="147282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8C647C7-1550-850C-42CE-50EB58A4B50B}"/>
              </a:ext>
            </a:extLst>
          </p:cNvPr>
          <p:cNvGrpSpPr/>
          <p:nvPr/>
        </p:nvGrpSpPr>
        <p:grpSpPr>
          <a:xfrm>
            <a:off x="6885282" y="3381875"/>
            <a:ext cx="2172680" cy="1519786"/>
            <a:chOff x="6456440" y="2764254"/>
            <a:chExt cx="2172680" cy="1519786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27A11610-6E50-23F0-F93A-FF12037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6657" t="14315" b="12674"/>
            <a:stretch>
              <a:fillRect/>
            </a:stretch>
          </p:blipFill>
          <p:spPr>
            <a:xfrm>
              <a:off x="6456440" y="2924476"/>
              <a:ext cx="2172680" cy="13595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31EF9588-F042-B55D-D433-C172946E0E5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4443" y="2764254"/>
              <a:ext cx="1896674" cy="17573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0AFDA73-8BDE-BB13-B280-DBD84E1E3391}"/>
              </a:ext>
            </a:extLst>
          </p:cNvPr>
          <p:cNvSpPr txBox="1">
            <a:spLocks/>
          </p:cNvSpPr>
          <p:nvPr/>
        </p:nvSpPr>
        <p:spPr>
          <a:xfrm>
            <a:off x="251520" y="1124744"/>
            <a:ext cx="1737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Step-by-step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960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7F8F-2CF8-084B-17A4-F7F97803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2EE1A422-64DA-8C6C-1DDB-1E1360C67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Example 1 - Birth and death model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4953B-2070-811F-D4B7-9756E1B838FC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5A823C1-47F8-96BA-4F13-1180A9C9D48A}"/>
              </a:ext>
            </a:extLst>
          </p:cNvPr>
          <p:cNvGrpSpPr>
            <a:grpSpLocks noChangeAspect="1"/>
          </p:cNvGrpSpPr>
          <p:nvPr/>
        </p:nvGrpSpPr>
        <p:grpSpPr>
          <a:xfrm>
            <a:off x="269719" y="2564904"/>
            <a:ext cx="4341427" cy="3508177"/>
            <a:chOff x="4427984" y="1505199"/>
            <a:chExt cx="4608512" cy="3724001"/>
          </a:xfrm>
        </p:grpSpPr>
        <p:pic>
          <p:nvPicPr>
            <p:cNvPr id="6" name="그림 5" descr="Figure 10.2. Illustration of the basic properties of birth-death models. A. Waiting time to a speciation event; B. Waiting time to an extinction event; C. Exponential distribution of waiting times until the next event; D. A birth-death tree with waiting times, with x denoting extinct taxa. Image by the author, can be reused under a CC-BY-4.0 license.">
              <a:extLst>
                <a:ext uri="{FF2B5EF4-FFF2-40B4-BE49-F238E27FC236}">
                  <a16:creationId xmlns:a16="http://schemas.microsoft.com/office/drawing/2014/main" id="{26E42D84-3CC6-146D-0DC2-2FDCDA140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27984" y="1772816"/>
              <a:ext cx="4608512" cy="345638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536716-5E8F-A07C-625F-D06EEA83BED0}"/>
                </a:ext>
              </a:extLst>
            </p:cNvPr>
            <p:cNvSpPr txBox="1"/>
            <p:nvPr/>
          </p:nvSpPr>
          <p:spPr>
            <a:xfrm>
              <a:off x="4802362" y="1863724"/>
              <a:ext cx="490407" cy="2977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Birth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22B390-395A-7C45-1B6C-B3BF107141C3}"/>
                </a:ext>
              </a:extLst>
            </p:cNvPr>
            <p:cNvSpPr txBox="1"/>
            <p:nvPr/>
          </p:nvSpPr>
          <p:spPr>
            <a:xfrm>
              <a:off x="4802362" y="2990097"/>
              <a:ext cx="578891" cy="2977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Death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229950-DF0D-B0A1-B5B9-CB178742098F}"/>
                </a:ext>
              </a:extLst>
            </p:cNvPr>
            <p:cNvSpPr txBox="1"/>
            <p:nvPr/>
          </p:nvSpPr>
          <p:spPr>
            <a:xfrm>
              <a:off x="4808768" y="3980136"/>
              <a:ext cx="1693453" cy="2882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Exponential waiting time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5C98E7-7452-145C-786A-8663B3F89F1B}"/>
                </a:ext>
              </a:extLst>
            </p:cNvPr>
            <p:cNvSpPr txBox="1"/>
            <p:nvPr/>
          </p:nvSpPr>
          <p:spPr>
            <a:xfrm>
              <a:off x="6355960" y="1863723"/>
              <a:ext cx="1167652" cy="2882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Single trajectory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8CAAAEA-03AC-49BB-85BF-1AC136EE4E6A}"/>
                </a:ext>
              </a:extLst>
            </p:cNvPr>
            <p:cNvSpPr/>
            <p:nvPr/>
          </p:nvSpPr>
          <p:spPr>
            <a:xfrm>
              <a:off x="8458746" y="1772816"/>
              <a:ext cx="172163" cy="30243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CB5B822-6F70-15CC-F0DA-15222596A27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633" y="1505199"/>
              <a:ext cx="343141" cy="179640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783E1B-7A14-58D3-3BC9-5A2B6E164F6F}"/>
              </a:ext>
            </a:extLst>
          </p:cNvPr>
          <p:cNvGrpSpPr/>
          <p:nvPr/>
        </p:nvGrpSpPr>
        <p:grpSpPr>
          <a:xfrm>
            <a:off x="5066039" y="3410565"/>
            <a:ext cx="3816424" cy="2469778"/>
            <a:chOff x="5066039" y="3410565"/>
            <a:chExt cx="3816424" cy="246977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FDC58F-BFF7-901B-7C12-C20D6EC64E12}"/>
                </a:ext>
              </a:extLst>
            </p:cNvPr>
            <p:cNvSpPr txBox="1"/>
            <p:nvPr/>
          </p:nvSpPr>
          <p:spPr>
            <a:xfrm>
              <a:off x="5066039" y="3410565"/>
              <a:ext cx="1766830" cy="343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CTMC modeling</a:t>
              </a:r>
            </a:p>
          </p:txBody>
        </p:sp>
        <p:pic>
          <p:nvPicPr>
            <p:cNvPr id="28" name="그림 27" descr="Birth–death process - Wikipedia">
              <a:extLst>
                <a:ext uri="{FF2B5EF4-FFF2-40B4-BE49-F238E27FC236}">
                  <a16:creationId xmlns:a16="http://schemas.microsoft.com/office/drawing/2014/main" id="{F9EE9704-5279-FE1B-8B99-01E32D2D8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66039" y="3832595"/>
              <a:ext cx="3816424" cy="819077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46C6615-A706-11A4-C6A3-EFBC30EF72C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8944" y="4985168"/>
              <a:ext cx="2179456" cy="895175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AF5BBF1-C4FF-EEF2-1CAE-534C17F0ADE3}"/>
              </a:ext>
            </a:extLst>
          </p:cNvPr>
          <p:cNvSpPr txBox="1"/>
          <p:nvPr/>
        </p:nvSpPr>
        <p:spPr>
          <a:xfrm>
            <a:off x="511859" y="1765291"/>
            <a:ext cx="3857146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Simplest model of species population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3E4F65D-5AD8-97EF-9857-DCCD4748BFF9}"/>
              </a:ext>
            </a:extLst>
          </p:cNvPr>
          <p:cNvGrpSpPr/>
          <p:nvPr/>
        </p:nvGrpSpPr>
        <p:grpSpPr>
          <a:xfrm>
            <a:off x="6344009" y="1221232"/>
            <a:ext cx="2479290" cy="1746794"/>
            <a:chOff x="6344009" y="1221232"/>
            <a:chExt cx="2479290" cy="1746794"/>
          </a:xfrm>
        </p:grpSpPr>
        <p:pic>
          <p:nvPicPr>
            <p:cNvPr id="2" name="그림 1" descr="How Populations Grow: The Exponential and Logistic Equations | Learn  Science at Scitable">
              <a:extLst>
                <a:ext uri="{FF2B5EF4-FFF2-40B4-BE49-F238E27FC236}">
                  <a16:creationId xmlns:a16="http://schemas.microsoft.com/office/drawing/2014/main" id="{93DA35CA-840A-4491-AB2D-3693E1965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44009" y="1221232"/>
              <a:ext cx="2476463" cy="144085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6A7E7E-D9A1-F079-DA40-059D6E6B7FBC}"/>
                </a:ext>
              </a:extLst>
            </p:cNvPr>
            <p:cNvSpPr txBox="1"/>
            <p:nvPr/>
          </p:nvSpPr>
          <p:spPr>
            <a:xfrm>
              <a:off x="7053263" y="2660570"/>
              <a:ext cx="1770036" cy="307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Ex) Bacteria population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503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D075-1B23-AD6F-1528-03A58AE0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4AF6F4D-BB57-EC1B-CE34-7485336CF20A}"/>
              </a:ext>
            </a:extLst>
          </p:cNvPr>
          <p:cNvSpPr/>
          <p:nvPr/>
        </p:nvSpPr>
        <p:spPr>
          <a:xfrm>
            <a:off x="4572000" y="2964254"/>
            <a:ext cx="4264760" cy="679988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7D158FB-A6DD-8D68-2CA8-B47368E711D2}"/>
              </a:ext>
            </a:extLst>
          </p:cNvPr>
          <p:cNvSpPr/>
          <p:nvPr/>
        </p:nvSpPr>
        <p:spPr>
          <a:xfrm>
            <a:off x="4572000" y="1746202"/>
            <a:ext cx="4264760" cy="679988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5F2AB881-5F51-5296-3F95-6FF3DEA8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Example 1 - Birth and death model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3034C-7794-11CB-E0DD-FA294FE3917D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2077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Simulation task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23EF14-AAD4-5237-C27B-0EC2D5B995BD}"/>
                  </a:ext>
                </a:extLst>
              </p:cNvPr>
              <p:cNvSpPr txBox="1"/>
              <p:nvPr/>
            </p:nvSpPr>
            <p:spPr>
              <a:xfrm>
                <a:off x="4725658" y="1842993"/>
                <a:ext cx="3877343" cy="4149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Task 2: Estimate distribution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ko-KR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23EF14-AAD4-5237-C27B-0EC2D5B99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658" y="1842993"/>
                <a:ext cx="3877343" cy="414985"/>
              </a:xfrm>
              <a:prstGeom prst="rect">
                <a:avLst/>
              </a:prstGeom>
              <a:blipFill>
                <a:blip r:embed="rId5"/>
                <a:stretch>
                  <a:fillRect l="-1258"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그림 27" descr="Birth–death process - Wikipedia">
            <a:extLst>
              <a:ext uri="{FF2B5EF4-FFF2-40B4-BE49-F238E27FC236}">
                <a16:creationId xmlns:a16="http://schemas.microsoft.com/office/drawing/2014/main" id="{F6A72354-A825-0D5D-B3DC-B5955A618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08" y="2232122"/>
            <a:ext cx="4170999" cy="8951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896A229-995B-8028-F9B1-6634DB4C52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231" y="5693891"/>
            <a:ext cx="1326964" cy="352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CD7F7C-4F15-A259-D216-6167A6E4476E}"/>
              </a:ext>
            </a:extLst>
          </p:cNvPr>
          <p:cNvSpPr txBox="1"/>
          <p:nvPr/>
        </p:nvSpPr>
        <p:spPr>
          <a:xfrm>
            <a:off x="4725658" y="5085184"/>
            <a:ext cx="2363147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Cf 2) deterministic equation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449EE-AE89-42FB-FE3C-7C0123E0F83E}"/>
              </a:ext>
            </a:extLst>
          </p:cNvPr>
          <p:cNvSpPr txBox="1"/>
          <p:nvPr/>
        </p:nvSpPr>
        <p:spPr>
          <a:xfrm>
            <a:off x="4725658" y="4367494"/>
            <a:ext cx="1568058" cy="34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Cf 1) DTMC 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3240A-BD3B-46DD-5E3E-BCBA94233CE2}"/>
                  </a:ext>
                </a:extLst>
              </p:cNvPr>
              <p:cNvSpPr txBox="1"/>
              <p:nvPr/>
            </p:nvSpPr>
            <p:spPr>
              <a:xfrm>
                <a:off x="4305134" y="3034893"/>
                <a:ext cx="4587346" cy="4668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Task 3: Estimate moment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3240A-BD3B-46DD-5E3E-BCBA94233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134" y="3034893"/>
                <a:ext cx="4587346" cy="466859"/>
              </a:xfrm>
              <a:prstGeom prst="rect">
                <a:avLst/>
              </a:prstGeom>
              <a:blipFill>
                <a:blip r:embed="rId8"/>
                <a:stretch>
                  <a:fillRect l="-797" b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07E04D6-7511-923D-04B8-E5A0079524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67" y="4263141"/>
            <a:ext cx="2179456" cy="89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21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56E19-B1DB-700B-201A-57F96591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B0B7444-9479-2E2D-3FF0-16713625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Example 2 - Chemical reaction network (CRN)</a:t>
            </a:r>
            <a:endParaRPr lang="ko-KR" altLang="en-US" sz="280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69991769-36F1-0C34-8F5B-C51AA5EF2B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429" y="2162544"/>
            <a:ext cx="4050286" cy="50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B71A62-15E0-CA96-AD51-97D22CDA3846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6502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How to simulate chemical reaction with </a:t>
            </a:r>
            <a:r>
              <a:rPr lang="en-US" altLang="ko-K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3C2958-5AF7-3D8C-E5B2-6DA1F7D821B9}"/>
              </a:ext>
            </a:extLst>
          </p:cNvPr>
          <p:cNvSpPr txBox="1"/>
          <p:nvPr/>
        </p:nvSpPr>
        <p:spPr>
          <a:xfrm>
            <a:off x="559231" y="1660197"/>
            <a:ext cx="3106941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Example: 2-species reaction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609E30D-4A31-DA06-A3BB-A3F128375A83}"/>
                  </a:ext>
                </a:extLst>
              </p:cNvPr>
              <p:cNvSpPr txBox="1"/>
              <p:nvPr/>
            </p:nvSpPr>
            <p:spPr>
              <a:xfrm>
                <a:off x="4740170" y="4075051"/>
                <a:ext cx="3911135" cy="423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600" dirty="0">
                    <a:cs typeface="Arial" panose="020B0604020202020204" pitchFamily="34" charset="0"/>
                  </a:rPr>
                  <a:t>Reaction 1 </a:t>
                </a:r>
                <a:r>
                  <a:rPr lang="en-US" altLang="ko-KR" sz="1600" b="0" dirty="0"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  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−1,   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1)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609E30D-4A31-DA06-A3BB-A3F128375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170" y="4075051"/>
                <a:ext cx="3911135" cy="423065"/>
              </a:xfrm>
              <a:prstGeom prst="rect">
                <a:avLst/>
              </a:prstGeom>
              <a:blipFill>
                <a:blip r:embed="rId5"/>
                <a:stretch>
                  <a:fillRect l="-936"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D1F2334-CB65-CD00-4997-66407E1661D6}"/>
                  </a:ext>
                </a:extLst>
              </p:cNvPr>
              <p:cNvSpPr txBox="1"/>
              <p:nvPr/>
            </p:nvSpPr>
            <p:spPr>
              <a:xfrm>
                <a:off x="4749480" y="4593003"/>
                <a:ext cx="3241528" cy="423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600" dirty="0">
                    <a:cs typeface="Arial" panose="020B0604020202020204" pitchFamily="34" charset="0"/>
                  </a:rPr>
                  <a:t>Reaction 2 </a:t>
                </a:r>
                <a:r>
                  <a:rPr lang="en-US" altLang="ko-KR" sz="1600" b="0" dirty="0"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  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+1,   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+1) 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D1F2334-CB65-CD00-4997-66407E166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80" y="4593003"/>
                <a:ext cx="3241528" cy="423065"/>
              </a:xfrm>
              <a:prstGeom prst="rect">
                <a:avLst/>
              </a:prstGeom>
              <a:blipFill>
                <a:blip r:embed="rId6"/>
                <a:stretch>
                  <a:fillRect l="-940"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그룹 80">
            <a:extLst>
              <a:ext uri="{FF2B5EF4-FFF2-40B4-BE49-F238E27FC236}">
                <a16:creationId xmlns:a16="http://schemas.microsoft.com/office/drawing/2014/main" id="{2FB9E949-D2BC-DC80-FA6F-4B641396D961}"/>
              </a:ext>
            </a:extLst>
          </p:cNvPr>
          <p:cNvGrpSpPr/>
          <p:nvPr/>
        </p:nvGrpSpPr>
        <p:grpSpPr>
          <a:xfrm>
            <a:off x="311259" y="2850489"/>
            <a:ext cx="3989476" cy="3333821"/>
            <a:chOff x="311259" y="2850489"/>
            <a:chExt cx="3989476" cy="3333821"/>
          </a:xfrm>
        </p:grpSpPr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100F10FA-3340-F09E-EA39-8962EF5957D7}"/>
                </a:ext>
              </a:extLst>
            </p:cNvPr>
            <p:cNvCxnSpPr>
              <a:cxnSpLocks/>
            </p:cNvCxnSpPr>
            <p:nvPr/>
          </p:nvCxnSpPr>
          <p:spPr>
            <a:xfrm>
              <a:off x="559231" y="5362592"/>
              <a:ext cx="3241275" cy="0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BE2D885-DD20-A2C0-6D0C-3E9F1A36C33A}"/>
                </a:ext>
              </a:extLst>
            </p:cNvPr>
            <p:cNvCxnSpPr>
              <a:cxnSpLocks/>
            </p:cNvCxnSpPr>
            <p:nvPr/>
          </p:nvCxnSpPr>
          <p:spPr>
            <a:xfrm>
              <a:off x="492695" y="4343170"/>
              <a:ext cx="3241275" cy="0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FFA05FA1-B525-EF21-C445-074D1A719FC4}"/>
                </a:ext>
              </a:extLst>
            </p:cNvPr>
            <p:cNvCxnSpPr>
              <a:cxnSpLocks/>
            </p:cNvCxnSpPr>
            <p:nvPr/>
          </p:nvCxnSpPr>
          <p:spPr>
            <a:xfrm>
              <a:off x="3301921" y="3212976"/>
              <a:ext cx="0" cy="2971334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8FB0E5B-8B06-A245-DE5F-4BABA88BFDEF}"/>
                </a:ext>
              </a:extLst>
            </p:cNvPr>
            <p:cNvCxnSpPr>
              <a:cxnSpLocks/>
            </p:cNvCxnSpPr>
            <p:nvPr/>
          </p:nvCxnSpPr>
          <p:spPr>
            <a:xfrm>
              <a:off x="2313855" y="3212976"/>
              <a:ext cx="0" cy="2971334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9D4E49E4-8BA2-F43C-1708-4E2CAB47EE79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87" y="3284984"/>
              <a:ext cx="0" cy="2899326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EDDFFC8-E7CF-6135-FAE7-41FFDDD32CD1}"/>
                </a:ext>
              </a:extLst>
            </p:cNvPr>
            <p:cNvGrpSpPr/>
            <p:nvPr/>
          </p:nvGrpSpPr>
          <p:grpSpPr>
            <a:xfrm>
              <a:off x="1881807" y="3957246"/>
              <a:ext cx="864096" cy="792088"/>
              <a:chOff x="1619672" y="4077072"/>
              <a:chExt cx="864096" cy="792088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26121668-1980-48DD-8FF5-C0C99953A1C7}"/>
                  </a:ext>
                </a:extLst>
              </p:cNvPr>
              <p:cNvSpPr/>
              <p:nvPr/>
            </p:nvSpPr>
            <p:spPr>
              <a:xfrm>
                <a:off x="1619672" y="4077072"/>
                <a:ext cx="864096" cy="7920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9F7E8A-EC6E-679A-2AED-E265E0C1C2A1}"/>
                  </a:ext>
                </a:extLst>
              </p:cNvPr>
              <p:cNvSpPr txBox="1"/>
              <p:nvPr/>
            </p:nvSpPr>
            <p:spPr>
              <a:xfrm>
                <a:off x="1734275" y="4246220"/>
                <a:ext cx="634890" cy="433553"/>
              </a:xfrm>
              <a:prstGeom prst="rect">
                <a:avLst/>
              </a:prstGeom>
              <a:noFill/>
            </p:spPr>
            <p:txBody>
              <a:bodyPr wrap="none" lIns="108000" tIns="108000" rIns="108000" bIns="108000" rtlCol="0">
                <a:spAutoFit/>
              </a:bodyPr>
              <a:lstStyle/>
              <a:p>
                <a:r>
                  <a:rPr lang="en-US" altLang="ko-KR" sz="1400" noProof="0" dirty="0">
                    <a:solidFill>
                      <a:srgbClr val="FF0000"/>
                    </a:solidFill>
                  </a:rPr>
                  <a:t>(a, </a:t>
                </a:r>
                <a:r>
                  <a:rPr lang="en-US" altLang="ko-KR" sz="1400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ko-KR" sz="1400" noProof="0" dirty="0">
                    <a:solidFill>
                      <a:srgbClr val="FF0000"/>
                    </a:solidFill>
                  </a:rPr>
                  <a:t>)</a:t>
                </a:r>
                <a:endParaRPr lang="ko-KR" altLang="en-US" sz="1400" noProof="0" dirty="0" err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AF561FA-681B-E634-A3B6-6D6EF5975596}"/>
                </a:ext>
              </a:extLst>
            </p:cNvPr>
            <p:cNvGrpSpPr/>
            <p:nvPr/>
          </p:nvGrpSpPr>
          <p:grpSpPr>
            <a:xfrm>
              <a:off x="937182" y="4966548"/>
              <a:ext cx="952285" cy="792088"/>
              <a:chOff x="675047" y="5086374"/>
              <a:chExt cx="952285" cy="792088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F0C4D909-D622-2D33-21AD-4FC4620EFC70}"/>
                  </a:ext>
                </a:extLst>
              </p:cNvPr>
              <p:cNvSpPr/>
              <p:nvPr/>
            </p:nvSpPr>
            <p:spPr>
              <a:xfrm>
                <a:off x="709504" y="5086374"/>
                <a:ext cx="864096" cy="7920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9682C7-4CFC-C765-F24C-5E277E7DB764}"/>
                  </a:ext>
                </a:extLst>
              </p:cNvPr>
              <p:cNvSpPr txBox="1"/>
              <p:nvPr/>
            </p:nvSpPr>
            <p:spPr>
              <a:xfrm>
                <a:off x="675047" y="5257762"/>
                <a:ext cx="952285" cy="433553"/>
              </a:xfrm>
              <a:prstGeom prst="rect">
                <a:avLst/>
              </a:prstGeom>
              <a:noFill/>
            </p:spPr>
            <p:txBody>
              <a:bodyPr wrap="none" lIns="108000" tIns="108000" rIns="108000" bIns="108000" rtlCol="0">
                <a:spAutoFit/>
              </a:bodyPr>
              <a:lstStyle/>
              <a:p>
                <a:r>
                  <a:rPr lang="en-US" altLang="ko-KR" sz="1400" noProof="0" dirty="0">
                    <a:solidFill>
                      <a:schemeClr val="bg2"/>
                    </a:solidFill>
                  </a:rPr>
                  <a:t>(</a:t>
                </a:r>
                <a:r>
                  <a:rPr lang="en-US" altLang="ko-KR" sz="1400" dirty="0">
                    <a:solidFill>
                      <a:schemeClr val="bg2"/>
                    </a:solidFill>
                  </a:rPr>
                  <a:t>a</a:t>
                </a:r>
                <a:r>
                  <a:rPr lang="en-US" altLang="ko-KR" sz="1400" noProof="0" dirty="0">
                    <a:solidFill>
                      <a:schemeClr val="bg2"/>
                    </a:solidFill>
                  </a:rPr>
                  <a:t>-1, b-1)</a:t>
                </a:r>
                <a:endParaRPr lang="ko-KR" altLang="en-US" sz="1400" noProof="0" dirty="0" err="1">
                  <a:solidFill>
                    <a:schemeClr val="bg2"/>
                  </a:solidFill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12B9093-0C97-20CE-46F5-2F768B13BE8C}"/>
                </a:ext>
              </a:extLst>
            </p:cNvPr>
            <p:cNvGrpSpPr/>
            <p:nvPr/>
          </p:nvGrpSpPr>
          <p:grpSpPr>
            <a:xfrm>
              <a:off x="2803337" y="4958669"/>
              <a:ext cx="997169" cy="792088"/>
              <a:chOff x="1553135" y="4077072"/>
              <a:chExt cx="997169" cy="792088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5AB4E5C6-093A-7F7A-564A-F80029277F4D}"/>
                  </a:ext>
                </a:extLst>
              </p:cNvPr>
              <p:cNvSpPr/>
              <p:nvPr/>
            </p:nvSpPr>
            <p:spPr>
              <a:xfrm>
                <a:off x="1619672" y="4077072"/>
                <a:ext cx="864096" cy="7920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4F77E5-69FC-1B51-F7C7-50553DD3C141}"/>
                  </a:ext>
                </a:extLst>
              </p:cNvPr>
              <p:cNvSpPr txBox="1"/>
              <p:nvPr/>
            </p:nvSpPr>
            <p:spPr>
              <a:xfrm>
                <a:off x="1553135" y="4256339"/>
                <a:ext cx="997169" cy="433553"/>
              </a:xfrm>
              <a:prstGeom prst="rect">
                <a:avLst/>
              </a:prstGeom>
              <a:noFill/>
            </p:spPr>
            <p:txBody>
              <a:bodyPr wrap="none" lIns="108000" tIns="108000" rIns="108000" bIns="108000" rtlCol="0">
                <a:spAutoFit/>
              </a:bodyPr>
              <a:lstStyle/>
              <a:p>
                <a:r>
                  <a:rPr lang="en-US" altLang="ko-KR" sz="1400" noProof="0" dirty="0">
                    <a:solidFill>
                      <a:schemeClr val="bg2"/>
                    </a:solidFill>
                  </a:rPr>
                  <a:t>(a+1, b-1)</a:t>
                </a:r>
                <a:endParaRPr lang="ko-KR" altLang="en-US" sz="1400" noProof="0" dirty="0" err="1">
                  <a:solidFill>
                    <a:schemeClr val="bg2"/>
                  </a:solidFill>
                </a:endParaRPr>
              </a:p>
            </p:txBody>
          </p:sp>
        </p:grp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9C4CBF22-FDC1-E737-BC67-02042E4782C9}"/>
                </a:ext>
              </a:extLst>
            </p:cNvPr>
            <p:cNvCxnSpPr>
              <a:cxnSpLocks/>
            </p:cNvCxnSpPr>
            <p:nvPr/>
          </p:nvCxnSpPr>
          <p:spPr>
            <a:xfrm>
              <a:off x="650032" y="5967533"/>
              <a:ext cx="3312368" cy="0"/>
            </a:xfrm>
            <a:prstGeom prst="straightConnector1">
              <a:avLst/>
            </a:prstGeom>
            <a:ln w="381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DE30FFF7-F69F-28EF-2D6A-10779CF06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063" y="3136089"/>
              <a:ext cx="0" cy="2989781"/>
            </a:xfrm>
            <a:prstGeom prst="straightConnector1">
              <a:avLst/>
            </a:prstGeom>
            <a:ln w="381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E9ECEE-0226-2AC4-3703-B9D9ED1DBA40}"/>
                </a:ext>
              </a:extLst>
            </p:cNvPr>
            <p:cNvSpPr txBox="1"/>
            <p:nvPr/>
          </p:nvSpPr>
          <p:spPr>
            <a:xfrm>
              <a:off x="3962400" y="5750757"/>
              <a:ext cx="338335" cy="433553"/>
            </a:xfrm>
            <a:prstGeom prst="rect">
              <a:avLst/>
            </a:prstGeom>
            <a:noFill/>
          </p:spPr>
          <p:txBody>
            <a:bodyPr wrap="none" lIns="108000" tIns="108000" rIns="108000" bIns="108000" rtlCol="0">
              <a:spAutoFit/>
            </a:bodyPr>
            <a:lstStyle/>
            <a:p>
              <a:r>
                <a:rPr lang="en-US" altLang="ko-KR" sz="1400" noProof="0" dirty="0">
                  <a:solidFill>
                    <a:schemeClr val="bg2"/>
                  </a:solidFill>
                </a:rPr>
                <a:t>A</a:t>
              </a:r>
              <a:endParaRPr lang="ko-KR" altLang="en-US" sz="1400" noProof="0" dirty="0" err="1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983EEE-3DDC-A020-4943-7513679C81F8}"/>
                </a:ext>
              </a:extLst>
            </p:cNvPr>
            <p:cNvSpPr txBox="1"/>
            <p:nvPr/>
          </p:nvSpPr>
          <p:spPr>
            <a:xfrm>
              <a:off x="311259" y="2850489"/>
              <a:ext cx="338335" cy="433553"/>
            </a:xfrm>
            <a:prstGeom prst="rect">
              <a:avLst/>
            </a:prstGeom>
            <a:noFill/>
          </p:spPr>
          <p:txBody>
            <a:bodyPr wrap="none" lIns="108000" tIns="108000" rIns="108000" bIns="108000" rtlCol="0">
              <a:spAutoFit/>
            </a:bodyPr>
            <a:lstStyle/>
            <a:p>
              <a:r>
                <a:rPr lang="en-US" altLang="ko-KR" sz="1400" dirty="0">
                  <a:solidFill>
                    <a:schemeClr val="bg2"/>
                  </a:solidFill>
                </a:rPr>
                <a:t>B</a:t>
              </a:r>
              <a:endParaRPr lang="ko-KR" altLang="en-US" sz="1400" noProof="0" dirty="0" err="1">
                <a:solidFill>
                  <a:schemeClr val="bg2"/>
                </a:solidFill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F6A8F0-6FD3-8E9E-DE13-D7787D13B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2901" y="4653136"/>
              <a:ext cx="208906" cy="297653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1D512A35-D3E9-D49A-5A62-24A99BF72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7819" y="4744883"/>
              <a:ext cx="208906" cy="297653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D1B26A91-1CA6-C1F1-CF20-4DD5FA709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2868" y="4699104"/>
              <a:ext cx="254046" cy="267006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466AAEF3-4455-7567-C1EF-0A3887CE6C89}"/>
                </a:ext>
              </a:extLst>
            </p:cNvPr>
            <p:cNvCxnSpPr>
              <a:cxnSpLocks/>
            </p:cNvCxnSpPr>
            <p:nvPr/>
          </p:nvCxnSpPr>
          <p:spPr>
            <a:xfrm>
              <a:off x="559231" y="3356992"/>
              <a:ext cx="3193903" cy="0"/>
            </a:xfrm>
            <a:prstGeom prst="line">
              <a:avLst/>
            </a:prstGeom>
            <a:ln w="190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00A2A6C3-8C80-467A-46A4-01A125507701}"/>
                </a:ext>
              </a:extLst>
            </p:cNvPr>
            <p:cNvGrpSpPr/>
            <p:nvPr/>
          </p:nvGrpSpPr>
          <p:grpSpPr>
            <a:xfrm>
              <a:off x="2803337" y="2982042"/>
              <a:ext cx="1042053" cy="792088"/>
              <a:chOff x="1533971" y="4077072"/>
              <a:chExt cx="1042053" cy="792088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9BED02EC-A192-9141-7FAC-BCD19CE16E98}"/>
                  </a:ext>
                </a:extLst>
              </p:cNvPr>
              <p:cNvSpPr/>
              <p:nvPr/>
            </p:nvSpPr>
            <p:spPr>
              <a:xfrm>
                <a:off x="1619672" y="4077072"/>
                <a:ext cx="864096" cy="7920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8120325-AFBF-53F0-F405-B5D4C9CA884D}"/>
                  </a:ext>
                </a:extLst>
              </p:cNvPr>
              <p:cNvSpPr txBox="1"/>
              <p:nvPr/>
            </p:nvSpPr>
            <p:spPr>
              <a:xfrm>
                <a:off x="1533971" y="4231119"/>
                <a:ext cx="1042053" cy="433553"/>
              </a:xfrm>
              <a:prstGeom prst="rect">
                <a:avLst/>
              </a:prstGeom>
              <a:noFill/>
            </p:spPr>
            <p:txBody>
              <a:bodyPr wrap="none" lIns="108000" tIns="108000" rIns="108000" bIns="108000" rtlCol="0">
                <a:spAutoFit/>
              </a:bodyPr>
              <a:lstStyle/>
              <a:p>
                <a:r>
                  <a:rPr lang="en-US" altLang="ko-KR" sz="1400" noProof="0" dirty="0">
                    <a:solidFill>
                      <a:schemeClr val="bg2">
                        <a:lumMod val="90000"/>
                        <a:lumOff val="10000"/>
                      </a:schemeClr>
                    </a:solidFill>
                  </a:rPr>
                  <a:t>(a+1, </a:t>
                </a:r>
                <a:r>
                  <a:rPr lang="en-US" altLang="ko-KR" sz="1400" dirty="0">
                    <a:solidFill>
                      <a:schemeClr val="bg2">
                        <a:lumMod val="90000"/>
                        <a:lumOff val="10000"/>
                      </a:schemeClr>
                    </a:solidFill>
                  </a:rPr>
                  <a:t>b+1</a:t>
                </a:r>
                <a:r>
                  <a:rPr lang="en-US" altLang="ko-KR" sz="1400" noProof="0" dirty="0">
                    <a:solidFill>
                      <a:schemeClr val="bg2">
                        <a:lumMod val="90000"/>
                        <a:lumOff val="10000"/>
                      </a:schemeClr>
                    </a:solidFill>
                  </a:rPr>
                  <a:t>)</a:t>
                </a:r>
                <a:endParaRPr lang="ko-KR" altLang="en-US" sz="1400" noProof="0" dirty="0" err="1">
                  <a:solidFill>
                    <a:schemeClr val="bg2">
                      <a:lumMod val="90000"/>
                      <a:lumOff val="10000"/>
                    </a:schemeClr>
                  </a:solidFill>
                </a:endParaRPr>
              </a:p>
            </p:txBody>
          </p:sp>
        </p:grp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03FB757D-4311-9D9F-9134-7128ADFB86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588" y="3755791"/>
              <a:ext cx="208906" cy="297653"/>
            </a:xfrm>
            <a:prstGeom prst="straightConnector1">
              <a:avLst/>
            </a:prstGeom>
            <a:ln w="12700">
              <a:solidFill>
                <a:schemeClr val="bg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D9E68D35-7F35-E8D6-2143-707DB9D75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1443" y="3646719"/>
              <a:ext cx="208906" cy="297653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B8F8F8F-BA36-283D-504C-CFCA0539D150}"/>
                  </a:ext>
                </a:extLst>
              </p:cNvPr>
              <p:cNvSpPr txBox="1"/>
              <p:nvPr/>
            </p:nvSpPr>
            <p:spPr>
              <a:xfrm>
                <a:off x="4749480" y="5079403"/>
                <a:ext cx="4309000" cy="532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600" dirty="0">
                    <a:cs typeface="Arial" panose="020B0604020202020204" pitchFamily="34" charset="0"/>
                  </a:rPr>
                  <a:t>Reaction 3 </a:t>
                </a:r>
                <a:r>
                  <a:rPr lang="en-US" altLang="ko-KR" sz="1600" b="0" dirty="0"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  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e>
                        </m:d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→(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1,   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1)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f>
                      <m:f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−1)</m:t>
                        </m:r>
                      </m:num>
                      <m:den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B8F8F8F-BA36-283D-504C-CFCA0539D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80" y="5079403"/>
                <a:ext cx="4309000" cy="532262"/>
              </a:xfrm>
              <a:prstGeom prst="rect">
                <a:avLst/>
              </a:prstGeom>
              <a:blipFill>
                <a:blip r:embed="rId7"/>
                <a:stretch>
                  <a:fillRect l="-707" b="-34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68467F8D-83E4-815A-26A4-91D82FD48A4C}"/>
              </a:ext>
            </a:extLst>
          </p:cNvPr>
          <p:cNvSpPr txBox="1"/>
          <p:nvPr/>
        </p:nvSpPr>
        <p:spPr>
          <a:xfrm>
            <a:off x="7596336" y="3695297"/>
            <a:ext cx="1346844" cy="307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‘mass-action law’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9946DE-53DF-11DB-5944-C8240DF412ED}"/>
              </a:ext>
            </a:extLst>
          </p:cNvPr>
          <p:cNvSpPr txBox="1"/>
          <p:nvPr/>
        </p:nvSpPr>
        <p:spPr>
          <a:xfrm>
            <a:off x="4420572" y="3505758"/>
            <a:ext cx="1937133" cy="3790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Transition rates: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0343B15-99F3-0DE5-0DF4-4FB047EBC46F}"/>
              </a:ext>
            </a:extLst>
          </p:cNvPr>
          <p:cNvGrpSpPr/>
          <p:nvPr/>
        </p:nvGrpSpPr>
        <p:grpSpPr>
          <a:xfrm>
            <a:off x="6682109" y="1384992"/>
            <a:ext cx="2449757" cy="1899050"/>
            <a:chOff x="6682109" y="1384992"/>
            <a:chExt cx="2449757" cy="1899050"/>
          </a:xfrm>
        </p:grpSpPr>
        <p:pic>
          <p:nvPicPr>
            <p:cNvPr id="84" name="그림 83" descr="A chemical reaction network for the NF-jB cell signal pathway with... |  Download Scientific Diagram">
              <a:extLst>
                <a:ext uri="{FF2B5EF4-FFF2-40B4-BE49-F238E27FC236}">
                  <a16:creationId xmlns:a16="http://schemas.microsoft.com/office/drawing/2014/main" id="{687DD4DE-C94D-6630-354A-A379AE9E1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82109" y="1696023"/>
              <a:ext cx="2449757" cy="1588019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8D886FA-D9E6-0AA4-279F-3E92A8E8C64F}"/>
                </a:ext>
              </a:extLst>
            </p:cNvPr>
            <p:cNvSpPr txBox="1"/>
            <p:nvPr/>
          </p:nvSpPr>
          <p:spPr>
            <a:xfrm>
              <a:off x="7341681" y="1384992"/>
              <a:ext cx="1778051" cy="307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Ex) Cell signal pathway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42594B-4581-AAA4-1B13-8258BE752281}"/>
              </a:ext>
            </a:extLst>
          </p:cNvPr>
          <p:cNvSpPr txBox="1"/>
          <p:nvPr/>
        </p:nvSpPr>
        <p:spPr>
          <a:xfrm>
            <a:off x="1769762" y="4942808"/>
            <a:ext cx="917239" cy="307456"/>
          </a:xfrm>
          <a:prstGeom prst="rect">
            <a:avLst/>
          </a:prstGeom>
          <a:solidFill>
            <a:schemeClr val="bg2">
              <a:lumMod val="10000"/>
              <a:lumOff val="90000"/>
              <a:alpha val="34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Reaction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86401-9FD8-A481-482B-573E13DFD36D}"/>
              </a:ext>
            </a:extLst>
          </p:cNvPr>
          <p:cNvSpPr txBox="1"/>
          <p:nvPr/>
        </p:nvSpPr>
        <p:spPr>
          <a:xfrm>
            <a:off x="2790971" y="4505435"/>
            <a:ext cx="917239" cy="307456"/>
          </a:xfrm>
          <a:prstGeom prst="rect">
            <a:avLst/>
          </a:prstGeom>
          <a:solidFill>
            <a:schemeClr val="bg2">
              <a:lumMod val="10000"/>
              <a:lumOff val="90000"/>
              <a:alpha val="34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Reaction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EF1DF-8C8F-D048-8B2E-9ACDEBDD2D58}"/>
              </a:ext>
            </a:extLst>
          </p:cNvPr>
          <p:cNvSpPr txBox="1"/>
          <p:nvPr/>
        </p:nvSpPr>
        <p:spPr>
          <a:xfrm>
            <a:off x="1825349" y="3489735"/>
            <a:ext cx="917239" cy="307456"/>
          </a:xfrm>
          <a:prstGeom prst="rect">
            <a:avLst/>
          </a:prstGeom>
          <a:solidFill>
            <a:schemeClr val="bg2">
              <a:lumMod val="10000"/>
              <a:lumOff val="90000"/>
              <a:alpha val="34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Reaction 2</a:t>
            </a:r>
          </a:p>
        </p:txBody>
      </p:sp>
    </p:spTree>
    <p:extLst>
      <p:ext uri="{BB962C8B-B14F-4D97-AF65-F5344CB8AC3E}">
        <p14:creationId xmlns:p14="http://schemas.microsoft.com/office/powerpoint/2010/main" val="7327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9" grpId="0"/>
      <p:bldP spid="61" grpId="0"/>
      <p:bldP spid="75" grpId="0"/>
      <p:bldP spid="77" grpId="0"/>
      <p:bldP spid="83" grpId="0"/>
      <p:bldP spid="3" grpId="0"/>
      <p:bldP spid="5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6587-A315-44D5-FB6B-AF93FC9F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B406977-37E5-349F-8E8B-3D2813DF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39058"/>
            <a:ext cx="8712968" cy="523220"/>
          </a:xfrm>
        </p:spPr>
        <p:txBody>
          <a:bodyPr/>
          <a:lstStyle/>
          <a:p>
            <a:r>
              <a:rPr lang="en-US" altLang="ko-KR" sz="2800" dirty="0"/>
              <a:t>Example 2 - Chemical reaction network (CRN)</a:t>
            </a:r>
            <a:endParaRPr lang="ko-KR" alt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81405-8616-5879-E59B-73E840BEF341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400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Simulation task: Practice CRNs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D033031-93D6-64C3-141E-6CA2CB8019A8}"/>
              </a:ext>
            </a:extLst>
          </p:cNvPr>
          <p:cNvGrpSpPr/>
          <p:nvPr/>
        </p:nvGrpSpPr>
        <p:grpSpPr>
          <a:xfrm>
            <a:off x="4535996" y="2204485"/>
            <a:ext cx="4264760" cy="679988"/>
            <a:chOff x="4535996" y="1922961"/>
            <a:chExt cx="4264760" cy="679988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9B78C303-5349-6945-3069-A62931C3C01B}"/>
                </a:ext>
              </a:extLst>
            </p:cNvPr>
            <p:cNvSpPr/>
            <p:nvPr/>
          </p:nvSpPr>
          <p:spPr>
            <a:xfrm>
              <a:off x="4535996" y="1922961"/>
              <a:ext cx="4264760" cy="679988"/>
            </a:xfrm>
            <a:prstGeom prst="roundRect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9FA76E3-B1CB-57CE-4E3D-406E348C72FE}"/>
                </a:ext>
              </a:extLst>
            </p:cNvPr>
            <p:cNvSpPr txBox="1"/>
            <p:nvPr/>
          </p:nvSpPr>
          <p:spPr>
            <a:xfrm>
              <a:off x="4755279" y="2008163"/>
              <a:ext cx="3672865" cy="414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Task 4: Complete code &amp; simulate</a:t>
              </a:r>
              <a:endParaRPr lang="en-US" altLang="ko-K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B998FD2-6B4B-8B24-15A9-76AF3D5FDEE4}"/>
              </a:ext>
            </a:extLst>
          </p:cNvPr>
          <p:cNvGrpSpPr/>
          <p:nvPr/>
        </p:nvGrpSpPr>
        <p:grpSpPr>
          <a:xfrm>
            <a:off x="4648333" y="4247188"/>
            <a:ext cx="4264760" cy="679988"/>
            <a:chOff x="4524040" y="4149080"/>
            <a:chExt cx="4264760" cy="679988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0F466087-B4BE-DFDC-4929-970033844604}"/>
                </a:ext>
              </a:extLst>
            </p:cNvPr>
            <p:cNvSpPr/>
            <p:nvPr/>
          </p:nvSpPr>
          <p:spPr>
            <a:xfrm>
              <a:off x="4524040" y="4149080"/>
              <a:ext cx="4264760" cy="679988"/>
            </a:xfrm>
            <a:prstGeom prst="roundRect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7582E1-7CD6-8373-322A-AE7DA20838A9}"/>
                </a:ext>
              </a:extLst>
            </p:cNvPr>
            <p:cNvSpPr txBox="1"/>
            <p:nvPr/>
          </p:nvSpPr>
          <p:spPr>
            <a:xfrm>
              <a:off x="4895014" y="4245945"/>
              <a:ext cx="3377912" cy="4149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Task 5: Does it return to origin?</a:t>
              </a:r>
              <a:endParaRPr lang="en-US" altLang="ko-K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D20C9ACF-825A-0634-BCFC-F624A42923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37" y="4382896"/>
            <a:ext cx="3618752" cy="42211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1E60618-C427-5E94-8D7F-2575FACF32D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39" y="2312860"/>
            <a:ext cx="3248762" cy="46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86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Thanks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2746029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978C-8442-0571-E2D5-7B6B4B85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A761FF7-757E-3A68-CE75-B5A7AD8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About our lab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AB8277-9ACA-44A5-F82C-FC3D0C9FA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140968"/>
            <a:ext cx="4334239" cy="2520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AEC5FB-2BE7-3715-87D4-1B5088C302CB}"/>
              </a:ext>
            </a:extLst>
          </p:cNvPr>
          <p:cNvSpPr txBox="1"/>
          <p:nvPr/>
        </p:nvSpPr>
        <p:spPr>
          <a:xfrm>
            <a:off x="5118284" y="5723447"/>
            <a:ext cx="237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</a:rPr>
              <a:t>tbio.postech.ac.kr</a:t>
            </a:r>
            <a:endParaRPr lang="ko-KR" altLang="en-US" sz="2000" b="1" dirty="0"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5D8CAF-AF70-A754-A8ED-7FB20A1DA9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52736"/>
            <a:ext cx="1684638" cy="180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13DE62-DF10-867F-8963-D969C4D24FF2}"/>
              </a:ext>
            </a:extLst>
          </p:cNvPr>
          <p:cNvSpPr txBox="1"/>
          <p:nvPr/>
        </p:nvSpPr>
        <p:spPr>
          <a:xfrm>
            <a:off x="2483768" y="1484784"/>
            <a:ext cx="5104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</a:rPr>
              <a:t>T</a:t>
            </a:r>
            <a:r>
              <a:rPr lang="en-US" altLang="ko-KR" sz="2000" dirty="0">
                <a:latin typeface="Arial" panose="020B0604020202020204" pitchFamily="34" charset="0"/>
              </a:rPr>
              <a:t>heoretical</a:t>
            </a:r>
            <a:r>
              <a:rPr lang="en-US" altLang="ko-KR" sz="2000" b="1" dirty="0">
                <a:latin typeface="Arial" panose="020B0604020202020204" pitchFamily="34" charset="0"/>
              </a:rPr>
              <a:t> Bio</a:t>
            </a:r>
            <a:r>
              <a:rPr lang="en-US" altLang="ko-KR" sz="2000" dirty="0">
                <a:latin typeface="Arial" panose="020B0604020202020204" pitchFamily="34" charset="0"/>
              </a:rPr>
              <a:t>physics</a:t>
            </a:r>
            <a:r>
              <a:rPr lang="en-US" altLang="ko-KR" sz="2000" b="1" dirty="0">
                <a:latin typeface="Arial" panose="020B0604020202020204" pitchFamily="34" charset="0"/>
              </a:rPr>
              <a:t> </a:t>
            </a:r>
            <a:br>
              <a:rPr lang="en-US" altLang="ko-KR" sz="2000" b="1" dirty="0">
                <a:latin typeface="Arial" panose="020B0604020202020204" pitchFamily="34" charset="0"/>
              </a:rPr>
            </a:br>
            <a:r>
              <a:rPr lang="en-US" altLang="ko-KR" sz="2000" dirty="0">
                <a:latin typeface="Arial" panose="020B0604020202020204" pitchFamily="34" charset="0"/>
              </a:rPr>
              <a:t>and Non-equilibrium Statistical Physics Lab</a:t>
            </a:r>
            <a:endParaRPr lang="ko-KR" altLang="en-US" sz="2000" dirty="0">
              <a:latin typeface="Arial" panose="020B0604020202020204" pitchFamily="34" charset="0"/>
            </a:endParaRPr>
          </a:p>
        </p:txBody>
      </p:sp>
      <p:pic>
        <p:nvPicPr>
          <p:cNvPr id="12" name="Picture 2" descr="https://lh3.googleusercontent.com/e0quuXJ9nrp2vjpHWUj2qXnIv6OHNFap-J48OqRKh-DfGG8xujLMqEzhWHLn2wR0Sx7-qOXt5NqvM3TChLAXR8s=w1280">
            <a:extLst>
              <a:ext uri="{FF2B5EF4-FFF2-40B4-BE49-F238E27FC236}">
                <a16:creationId xmlns:a16="http://schemas.microsoft.com/office/drawing/2014/main" id="{E6755633-1E7B-9B6E-5623-4F36E3346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08" y="2935136"/>
            <a:ext cx="2464293" cy="246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E8772E-7E86-5477-FA19-786E492B6A7E}"/>
              </a:ext>
            </a:extLst>
          </p:cNvPr>
          <p:cNvSpPr txBox="1"/>
          <p:nvPr/>
        </p:nvSpPr>
        <p:spPr>
          <a:xfrm>
            <a:off x="179512" y="5399429"/>
            <a:ext cx="365837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Arial" panose="020B0604020202020204" pitchFamily="34" charset="0"/>
              </a:rPr>
              <a:t>Principle Investigator: </a:t>
            </a:r>
            <a:r>
              <a:rPr lang="en-US" altLang="ko-KR" sz="1200" dirty="0">
                <a:latin typeface="Arial" panose="020B0604020202020204" pitchFamily="34" charset="0"/>
              </a:rPr>
              <a:t>Prof. Jae-Hyung Jeon</a:t>
            </a:r>
          </a:p>
          <a:p>
            <a:r>
              <a:rPr lang="en-US" altLang="ko-KR" sz="1200" dirty="0">
                <a:latin typeface="Arial" panose="020B0604020202020204" pitchFamily="34" charset="0"/>
              </a:rPr>
              <a:t>Associate Professor | Department of Physics</a:t>
            </a:r>
          </a:p>
          <a:p>
            <a:r>
              <a:rPr lang="en-US" altLang="ko-KR" sz="1200" dirty="0">
                <a:latin typeface="Arial" panose="020B0604020202020204" pitchFamily="34" charset="0"/>
              </a:rPr>
              <a:t>APCTP Executive Director</a:t>
            </a:r>
          </a:p>
          <a:p>
            <a:r>
              <a:rPr lang="en-US" altLang="ko-KR" sz="1200" dirty="0">
                <a:latin typeface="Arial" panose="020B0604020202020204" pitchFamily="34" charset="0"/>
              </a:rPr>
              <a:t>Email: </a:t>
            </a:r>
            <a:r>
              <a:rPr lang="en-US" altLang="ko-KR" sz="1200" dirty="0">
                <a:latin typeface="Arial" panose="020B0604020202020204" pitchFamily="34" charset="0"/>
                <a:hlinkClick r:id="rId6"/>
              </a:rPr>
              <a:t>jeonjh@postech.ac.kr</a:t>
            </a:r>
            <a:r>
              <a:rPr lang="en-US" altLang="ko-KR" sz="1200" dirty="0">
                <a:latin typeface="Arial" panose="020B0604020202020204" pitchFamily="34" charset="0"/>
              </a:rPr>
              <a:t> or </a:t>
            </a:r>
            <a:r>
              <a:rPr lang="en-US" altLang="ko-KR" sz="1200" dirty="0">
                <a:latin typeface="Arial" panose="020B0604020202020204" pitchFamily="34" charset="0"/>
                <a:hlinkClick r:id="rId7"/>
              </a:rPr>
              <a:t>jeonjh@gmail.com</a:t>
            </a:r>
            <a:r>
              <a:rPr lang="en-US" altLang="ko-KR" sz="1200" dirty="0">
                <a:latin typeface="Arial" panose="020B0604020202020204" pitchFamily="34" charset="0"/>
              </a:rPr>
              <a:t> </a:t>
            </a:r>
            <a:endParaRPr lang="ko-KR" altLang="en-US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278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abce83e47c546ff6ac1b4b362eaa37f0f7a52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1416.57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X_1=x^{\prime}|X_0=x) = p_{xx^{\prime}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533.93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[&#10;P(X_{n+1}=i_{n+1}\mid X_n=i_n, \textcolor{red}{X_{n-1}=i_{n-1},\ldots,X_0=i_0})&#10;=&#10;P(X_{n+1}=i_{n+1}\mid X_n=i_n).&#10;\]&#10;\end{document}"/>
  <p:tag name="IGUANATEXSIZE" val="20"/>
  <p:tag name="IGUANATEXCURSOR" val="1333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9.955"/>
  <p:tag name="ORIGINALWIDTH" val="2627.67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=\prod_{n=0}^{i-1}&#10;P(X_{n+1}=x_{n+1}\mid X_n=x_n)=\prod_{n=0}^{i-1}&#10;\textcolor{blue}{p_{x_n, x_{n+1}}}&#10;\end{eqnarray*}&#10;\end{document}"/>
  <p:tag name="IGUANATEXSIZE" val="20"/>
  <p:tag name="IGUANATEXCURSOR" val="1372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961"/>
  <p:tag name="ORIGINALWIDTH" val="2667.417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 \indent&amp;&amp;=P(X_{1}=x_{1}\mid X_{0}=x_{0})&#10;\times P(X_{2}=x_{2}\mid X_{1}=x_{1})\\&#10;&amp;&amp;\times \dots\times P(X_{i}=x_{i}\mid X_{i-1}=x_{i-1})&#10;\end{eqnarray*}&#10;\end{document}"/>
  <p:tag name="IGUANATEXSIZE" val="20"/>
  <p:tag name="IGUANATEXCURSOR" val="1438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617.92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&amp;&amp;P(\textcolor{blue}{X_i=x_i, X_{i-1}=x_{i-1},\dots, X_{1}=x_{1}}\mid X_0=x_0)&#10;\end{eqnarray*}&#10;\end{document}"/>
  <p:tag name="IGUANATEXSIZE" val="20"/>
  <p:tag name="IGUANATEXCURSOR" val="1284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5.298"/>
  <p:tag name="ORIGINALWIDTH" val="4134.98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numerate}&#10;    \item Initialize the state \(i\).&#10;&#10;    \item Using the transition probabilities \(\{p_{ij}\}_{j=1}^{N_i}\)'s at \(i\), determine the next state. To do that generate \(U \sim \mathrm{Uniform}[0,1]\) and find \(j\) such that&#10;    \[&#10;    \sum_{k&lt;j} p_{ik} \le U &lt; \sum_{k\leq j} p_{ik},&#10;    \]&#10;    then the next state is \(j\).&#10;&#10;    \item Repeat above steps with the new state \(j\) regarding \(j\) as the initial state (`Markov property'!).&#10;\end{enumerate}&#10;\end{document}"/>
  <p:tag name="IGUANATEXSIZE" val="20"/>
  <p:tag name="IGUANATEXCURSOR" val="1548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41.99472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1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53.2433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0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2911.886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[&#10;P(X_{n+1} = k \mid X_n = i)&#10;=&#10;\binom{N}{k}&#10;\left( \frac{i}{N} \right)^k&#10;\left( 1 - \frac{i}{N} \right)^{N-k},&#10;\]&#10;\end{document}"/>
  <p:tag name="IGUANATEXSIZE" val="20"/>
  <p:tag name="IGUANATEXCURSOR" val="1364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47.769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align*}&#10;&amp;P\left(X(t+s)=j \mid X(s)=i,\, \textcolor{red}{X(u),\, u&lt;s}\right)=&#10;P\left(X(t+s)=j \mid X(s)=i\right)&#10;\end{align*}&#10;\end{document}"/>
  <p:tag name="IGUANATEXSIZE" val="20"/>
  <p:tag name="IGUANATEXCURSOR" val="1383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46.49417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$\textcolor{red}{s}$&#10;\end{document}"/>
  <p:tag name="IGUANATEXSIZE" val="20"/>
  <p:tag name="IGUANATEXCURSOR" val="1263"/>
  <p:tag name="TRANSPARENCY" val="True"/>
  <p:tag name="COLORHEX" val="000000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247.469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$\textcolor{red}{t+s}$&#10;\end{document}"/>
  <p:tag name="IGUANATEXSIZE" val="20"/>
  <p:tag name="IGUANATEXCURSOR" val="1273"/>
  <p:tag name="TRANSPARENCY" val="True"/>
  <p:tag name="COLORHEX" val="000000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73.715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State&#10;\end{document}"/>
  <p:tag name="IGUANATEXSIZE" val="20"/>
  <p:tag name="IGUANATEXCURSOR" val="1257"/>
  <p:tag name="TRANSPARENCY" val="True"/>
  <p:tag name="COLORHEX" val="000000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1830.52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\tau=t|X(t_0)=x) = \lambda(x) e^{-\lambda(x) t},&#10;\end{eqnarray*}&#10;\end{document}"/>
  <p:tag name="IGUANATEXSIZE" val="20"/>
  <p:tag name="IGUANATEXCURSOR" val="1318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73.715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State&#10;\end{document}"/>
  <p:tag name="IGUANATEXSIZE" val="20"/>
  <p:tag name="IGUANATEXCURSOR" val="1257"/>
  <p:tag name="TRANSPARENCY" val="True"/>
  <p:tag name="COLORHEX" val="000000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81.627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\tau&gt;t+s|\tau&gt;t)&#10;\end{eqnarray*}&#10;\end{document}"/>
  <p:tag name="IGUANATEXSIZE" val="20"/>
  <p:tag name="IGUANATEXCURSOR" val="1288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70.191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\tau&gt;s)&#10;\end{eqnarray*}&#10;\end{document}"/>
  <p:tag name="IGUANATEXSIZE" val="20"/>
  <p:tag name="IGUANATEXCURSOR" val="1270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73.715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State&#10;\end{document}"/>
  <p:tag name="IGUANATEXSIZE" val="20"/>
  <p:tag name="IGUANATEXCURSOR" val="1257"/>
  <p:tag name="TRANSPARENCY" val="True"/>
  <p:tag name="COLORHEX" val="000000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1242.595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x^{\prime}|X(t_0)=x) = p_{xx^{\prime}}&#10;\end{eqnarray*}&#10;\end{document}"/>
  <p:tag name="IGUANATEXSIZE" val="20"/>
  <p:tag name="IGUANATEXCURSOR" val="1310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73.715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State&#10;\end{document}"/>
  <p:tag name="IGUANATEXSIZE" val="20"/>
  <p:tag name="IGUANATEXCURSOR" val="1257"/>
  <p:tag name="TRANSPARENCY" val="True"/>
  <p:tag name="COLORHEX" val="000000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8.7101"/>
  <p:tag name="ORIGINALWIDTH" val="1650.54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&#10;\begin{eqnarray*}&#10;\text{Cf) }&amp;&amp;\tau|(x^{\prime}=A) \,\sim \mathrm{Exp}(10)\\&#10;&amp;&amp;\tau|(x^{\prime}=B) \,\sim \mathrm{Exp}(1)&#10;\end{eqnarray*}&#10;\end{document}"/>
  <p:tag name="IGUANATEXSIZE" val="20"/>
  <p:tag name="IGUANATEXCURSOR" val="1327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13.723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\labmda(1)&#10;\end{eqnarray*}&#10;\end{document}"/>
  <p:tag name="IGUANATEXSIZE" val="20"/>
  <p:tag name="IGUANATEXCURSOR" val="1278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.49307"/>
  <p:tag name="ORIGINALWIDTH" val="60.7424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\tau&#10;\end{eqnarray*}&#10;\end{document}"/>
  <p:tag name="IGUANATEXSIZE" val="20"/>
  <p:tag name="IGUANATEXCURSOR" val="1274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1602.55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\tau|X(t_0)=1) = \lambda(1) e^{-\lambda(1) \tau}&#10;\end{eqnarray*}&#10;\end{document}"/>
  <p:tag name="IGUANATEXSIZE" val="20"/>
  <p:tag name="IGUANATEXCURSOR" val="1320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41.99472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1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53.2433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0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844.394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q_{xx^{\prime}}:=\lambda(x)p_{xx^{\prime}}&#10;\end{eqnarray*}&#10;\end{document}"/>
  <p:tag name="IGUANATEXSIZE" val="20"/>
  <p:tag name="IGUANATEXCURSOR" val="1312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.964"/>
  <p:tag name="ORIGINALWIDTH" val="1967.75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\lambda(x)=\sum_{x^{\prime}}q_{xx^{\prime}},\qquad p_{xx^{\prime}}=\frac{q_{xx^{\prime}}}{\sum_{x^{\prime}}q_{xx^{\prime}}}&#10;\end{eqnarray*}&#10;\end{document}"/>
  <p:tag name="IGUANATEXSIZE" val="20"/>
  <p:tag name="IGUANATEXCURSOR" val="1313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71"/>
  <p:tag name="LAYER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44.7319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q_{15}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48.481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q_{17}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45.481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q_{16}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44.7319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q_{12}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13.7233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\labmda(1)&#10;\end{eqnarray*}&#10;\end{document}"/>
  <p:tag name="IGUANATEXSIZE" val="20"/>
  <p:tag name="IGUANATEXCURSOR" val="1278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04.912"/>
  <p:tag name="ORIGINALWIDTH" val="4128.23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numerate}&#10;    \item Initialize:&#10;    \[&#10;        X(0) = x.&#10;    \]&#10;&#10;    \item Compute transition rate $q$ for each transition based on the current state:&#10;    \[&#10;        q_{xk}.&#10;    \]&#10;&#10;    \item Sample the time to the next reaction from an exponential distribution:&#10;    select state $\ell$ such that&#10;    \[&#10;        t = t + \tau, &#10;    \]&#10;    where&#10;    \[&#10;        \tau \sim \mathrm{Exp}\left[\lambda(x)\right]&#10;        \quad \text{and} \quad&#10;        \lambda(x) = \sum_k q_{xk}.&#10;    \]&#10;&#10;    \item Choose which transition occurs based on the reaction propensities:&#10;    \[&#10;        \sum_{k=1}^{\ell-1} \frac{q_{xk}}{\lambda(x)}&#10;        \leq U&#10;        &lt;&#10;        \sum_{k=1}^{\ell} \frac{q_{xk}}{\lambda(x)}.&#10;    \]&#10;\end{enumerate}&#10;\end{document}"/>
  <p:tag name="IGUANATEXSIZE" val="20"/>
  <p:tag name="IGUANATEXCURSOR" val="181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1602.55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(\tau|X(t_0)=1) = \lambda(1) e^{-\lambda(1) \tau}&#10;\end{eqnarray*}&#10;\end{document}"/>
  <p:tag name="IGUANATEXSIZE" val="20"/>
  <p:tag name="IGUANATEXCURSOR" val="1320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2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22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5}&#10;\end{eqnarray*}&#10;\end{document}"/>
  <p:tag name="IGUANATEXSIZE" val="20"/>
  <p:tag name="IGUANATEXCURSOR" val="127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1.979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6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.74016"/>
  <p:tag name="ORIGINALWIDTH" val="164.979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p_{17}&#10;\end{eqnarray*}&#10;\end{document}"/>
  <p:tag name="IGUANATEXSIZE" val="20"/>
  <p:tag name="IGUANATEXCURSOR" val="127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41.99472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1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53.2433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0&#10;\end{eqnarray*}&#10;\end{document}"/>
  <p:tag name="IGUANATEXSIZE" val="20"/>
  <p:tag name="IGUANATEXCURSOR" val="1271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5.1818"/>
  <p:tag name="ORIGINALWIDTH" val="1327.33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&amp;&amp; q_{x,x+1}=b\textcolor{red}{x} \\&#10;&amp;&amp; q_{x,x-1}=&#10;\begin{cases}&#10;d\textcolor{red}{x}, &amp; \text{if } x \ge 1,\\&#10;0, &amp; \text{if } x = 0.&#10;\end{cases}&#10;\end{eqnarray*}&#10;\end{document}"/>
  <p:tag name="IGUANATEXSIZE" val="20"/>
  <p:tag name="IGUANATEXCURSOR" val="1353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9.220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X(t)&#10;\end{eqnarray*}&#10;\end{document}"/>
  <p:tag name="IGUANATEXSIZE" val="20"/>
  <p:tag name="IGUANATEXCURSOR" val="1274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7.2179"/>
  <p:tag name="ORIGINALWIDTH" val="968.129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\frac{dX}{dt} = (b-d)X(t)&#10;\end{eqnarray*}&#10;\end{document}"/>
  <p:tag name="IGUANATEXSIZE" val="20"/>
  <p:tag name="IGUANATEXCURSOR" val="129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5.1818"/>
  <p:tag name="ORIGINALWIDTH" val="1327.334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&amp;&amp; q_{x,x+1}=bx \\&#10;&amp;&amp; q_{x,x-1}=&#10;\begin{cases}&#10;dx, &amp; \text{if } x \ge 1,\\&#10;0, &amp; \text{if } x = 0.&#10;\end{cases}&#10;\end{eqnarray*}&#10;\end{document}"/>
  <p:tag name="IGUANATEXSIZE" val="20"/>
  <p:tag name="IGUANATEXCURSOR" val="1285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7.4691"/>
  <p:tag name="ORIGINALWIDTH" val="1993.251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A+B \overset{k_1}{\underset{k_2}{\rightleftharpoons}} \emptyset,&#10;\qquad&#10;A+2B \xrightarrow{k_3} 2A+B.&#10;\end{eqnarray*}&#10;\end{document}"/>
  <p:tag name="IGUANATEXSIZE" val="20"/>
  <p:tag name="IGUANATEXCURSOR" val="1363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6.4716"/>
  <p:tag name="ORIGINALWIDTH" val="1941.507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A+B \overset{1}{\underset{1}{\rightleftharpoons}} \emptyset,&#10;\qquad&#10;A+2B \xrightarrow{1} 2A+B.&#10;\end{eqnarray*}&#10;\end{document}"/>
  <p:tag name="IGUANATEXSIZE" val="20"/>
  <p:tag name="IGUANATEXCURSOR" val="1357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7.9715"/>
  <p:tag name="ORIGINALWIDTH" val="1598.8"/>
  <p:tag name="OUTPUTTYPE" val="PNG"/>
  <p:tag name="IGUANATEXVERSION" val="162"/>
  <p:tag name="LATEXADDIN" val="\documentclass{article}&#10;\pagestyle{empty}&#10;\usepackage{amsmath}&#10;\usepackage{amssymb}&#10;\usepackage{physics}&#10;\usepackage{xcolor}&#10;\usepackage{kotex}&#10;\usepackage{cancel}&#10;%\usepackage{MnSymbol}&#10;%\usepackage{fourier}&#10;\usepackage[bb=ams, cal=cm, scr=boondox, frak=euler]{mathalpha}&#10;&#10;%packages for doulbe perp, but strange integrals &#10;&#10;%\usepackage{mathbbol}&#10;%package for mathbb small letters&#10;&#10;\usepackage{mathrsfs}&#10;%packages for mathscr font for capital&#10;&#10;%\usepackage{unicode-math}&#10;%\setmathfont{XITS Math}&#10;%\setmathfont[version=setB,StylisticSet=1]{XITS Math}&#10;% I don't know why this doesn't work&#10;&#10;\newcommand{\intersect}{\bigcap}&#10;\newcommand{\smallinter}{\cap}&#10;\newcommand{\union}{\bigcup}&#10;\newcommand{\smallunion}{\cup}&#10;\newcommand{\Del}{\nabla}&#10;\newcommand{\LEFT }{\left }&#10;\newcommand{\RIGHT }{\right }&#10;\newcommand{\CDOT}{\cdot}&#10;\newcommand{\TIMES}{\times}&#10;\newcommand{\APPROX}{\approx}&#10;\newcommand{\SQRT}{\sqrt}&#10;\newcommand{\CDOTS}{\cdots}&#10;\newcommand{\OVER}{\over}&#10;\makeatletter&#10;\def\mathcolor#1#{\@mathcolor{#1}}&#10;\def\@mathcolor#1#2#3{%&#10;  \protect\leavevmode&#10;  \begingroup&#10;    \color#1{#2}#3%&#10;  \endgroup&#10;}&#10;\newcommand{\labmda}{\lambda}&#10;\makeatother&#10;%\definecolor{pptbasic}{RGB}{91, 155, 213} &#10;\definecolor{pptbasic}{RGB}{68, 114, 196} &#10;&#10;\begin{document}&#10;\begin{eqnarray*}&#10;A+B \overset{1}{\underset{3}{\rightleftharpoons}} C,&#10;\qquad&#10;A \overset{1}{\underset{1}{\rightleftharpoons}} \emptyset&#10;\overset{1}{\underset{1}{\rightleftharpoons}} B.&#10;\end{eqnarray*}&#10;\end{document}"/>
  <p:tag name="IGUANATEXSIZE" val="20"/>
  <p:tag name="IGUANATEXCURSOR" val="1436"/>
  <p:tag name="TRANSPARENCY" val="True"/>
  <p:tag name="COLORHEX" val="000000"/>
  <p:tag name="LATEXENGINEID" val="0"/>
  <p:tag name="TEMPFOLDER" val="c:\temp\"/>
  <p:tag name="LATEXFORMHEIGHT" val="515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Corporate template-set Universiteit Leiden">
  <a:themeElements>
    <a:clrScheme name="Universiteit Leiden">
      <a:dk1>
        <a:srgbClr val="000000"/>
      </a:dk1>
      <a:lt1>
        <a:srgbClr val="FFFFFF"/>
      </a:lt1>
      <a:dk2>
        <a:srgbClr val="8592BC"/>
      </a:dk2>
      <a:lt2>
        <a:srgbClr val="001158"/>
      </a:lt2>
      <a:accent1>
        <a:srgbClr val="9EBA2E"/>
      </a:accent1>
      <a:accent2>
        <a:srgbClr val="5CB1EB"/>
      </a:accent2>
      <a:accent3>
        <a:srgbClr val="34A3A9"/>
      </a:accent3>
      <a:accent4>
        <a:srgbClr val="F46E32"/>
      </a:accent4>
      <a:accent5>
        <a:srgbClr val="2C712D"/>
      </a:accent5>
      <a:accent6>
        <a:srgbClr val="B02079"/>
      </a:accent6>
      <a:hlink>
        <a:srgbClr val="0033CC"/>
      </a:hlink>
      <a:folHlink>
        <a:srgbClr val="7030A0"/>
      </a:folHlink>
    </a:clrScheme>
    <a:fontScheme name="사용자 지정 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108000" rIns="108000" bIns="108000" rtlCol="0">
        <a:noAutofit/>
      </a:bodyPr>
      <a:lstStyle>
        <a:defPPr>
          <a:defRPr noProof="0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-windows-en-met-slidenr.potx" id="{AFEA357D-D7A1-4093-8F37-2903EA1E32B4}" vid="{CE1BFD01-A7D4-4F03-8ED9-8F286D333555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8E77E9BB20574C88F1A51905EBD0AF" ma:contentTypeVersion="2" ma:contentTypeDescription="Create a new document." ma:contentTypeScope="" ma:versionID="2fd0fa924a9e82cd60e1feff1e189b11">
  <xsd:schema xmlns:xsd="http://www.w3.org/2001/XMLSchema" xmlns:xs="http://www.w3.org/2001/XMLSchema" xmlns:p="http://schemas.microsoft.com/office/2006/metadata/properties" xmlns:ns2="01a1795b-c314-4f6e-9e61-ae7877c66689" targetNamespace="http://schemas.microsoft.com/office/2006/metadata/properties" ma:root="true" ma:fieldsID="312e5ddb972235c6e69e0cbbfcd395b3" ns2:_="">
    <xsd:import namespace="01a1795b-c314-4f6e-9e61-ae7877c666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1795b-c314-4f6e-9e61-ae7877c66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6ABCAEF-D5A0-4535-AD83-587F03E189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9FBFB-9829-4960-B574-BA25F32F53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a1795b-c314-4f6e-9e61-ae7877c666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2D4775-B13D-4BD4-89B1-2E5B7CFBB179}">
  <ds:schemaRefs>
    <ds:schemaRef ds:uri="http://purl.org/dc/elements/1.1/"/>
    <ds:schemaRef ds:uri="01a1795b-c314-4f6e-9e61-ae7877c66689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39960</TotalTime>
  <Words>1208</Words>
  <Application>Microsoft Office PowerPoint</Application>
  <PresentationFormat>화면 슬라이드 쇼(4:3)</PresentationFormat>
  <Paragraphs>214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Cambria Math</vt:lpstr>
      <vt:lpstr>Arial</vt:lpstr>
      <vt:lpstr>Wingdings</vt:lpstr>
      <vt:lpstr>Calibri</vt:lpstr>
      <vt:lpstr>Minion</vt:lpstr>
      <vt:lpstr>Corporate template-set Universiteit Leiden</vt:lpstr>
      <vt:lpstr> </vt:lpstr>
      <vt:lpstr>Stochastic processes in living cells</vt:lpstr>
      <vt:lpstr>Contents</vt:lpstr>
      <vt:lpstr>Discrete-time Markov chain (DTMC)</vt:lpstr>
      <vt:lpstr>Definition of DTMC</vt:lpstr>
      <vt:lpstr>Definition of DTMC</vt:lpstr>
      <vt:lpstr>Simulation</vt:lpstr>
      <vt:lpstr>Example – Evolutionary population genetics </vt:lpstr>
      <vt:lpstr>Continuous-time Markov chain (CTMC)</vt:lpstr>
      <vt:lpstr>Definition of CTMC</vt:lpstr>
      <vt:lpstr>Definition of CTMC</vt:lpstr>
      <vt:lpstr>Definition of CTMC</vt:lpstr>
      <vt:lpstr>Definition of CTMC</vt:lpstr>
      <vt:lpstr>Definition of CTMC</vt:lpstr>
      <vt:lpstr>Definition of CTMC</vt:lpstr>
      <vt:lpstr>Simulation: Gillespie’s algorithm</vt:lpstr>
      <vt:lpstr>Example 1 - Birth and death model</vt:lpstr>
      <vt:lpstr>Example 1 - Birth and death model</vt:lpstr>
      <vt:lpstr>Example 2 - Chemical reaction network (CRN)</vt:lpstr>
      <vt:lpstr>Example 2 - Chemical reaction network (CRN)</vt:lpstr>
      <vt:lpstr>Thanks for listening!</vt:lpstr>
      <vt:lpstr>About our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이동호(물리학과)</dc:creator>
  <cp:lastModifiedBy>이동호(물리학과)</cp:lastModifiedBy>
  <cp:revision>1391</cp:revision>
  <cp:lastPrinted>2026-06-26T05:01:29Z</cp:lastPrinted>
  <dcterms:created xsi:type="dcterms:W3CDTF">2025-02-03T02:08:00Z</dcterms:created>
  <dcterms:modified xsi:type="dcterms:W3CDTF">2026-06-30T02:45:47Z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0x010100798E77E9BB20574C88F1A51905EBD0AF</vt:lpwstr>
  </property>
</Properties>
</file>